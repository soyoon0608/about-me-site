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2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5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5" r:id="rId16"/>
    <p:sldId id="257" r:id="rId8"/>
    <p:sldId id="258" r:id="rId9"/>
    <p:sldId id="259" r:id="rId10"/>
    <p:sldId id="260" r:id="rId11"/>
    <p:sldId id="261" r:id="rId12"/>
    <p:sldId id="267" r:id="rId18"/>
    <p:sldId id="271" r:id="rId22"/>
    <p:sldId id="277" r:id="rId28"/>
    <p:sldId id="278" r:id="rId29"/>
    <p:sldId id="284" r:id="rId35"/>
    <p:sldId id="280" r:id="rId31"/>
    <p:sldId id="294" r:id="rId45"/>
    <p:sldId id="296" r:id="rId47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6" Type="http://schemas.openxmlformats.org/officeDocument/2006/relationships/slide" Target="slides/slide2.xml"/><Relationship Id="rId18" Type="http://schemas.openxmlformats.org/officeDocument/2006/relationships/slide" Target="slides/slide12.xml"/><Relationship Id="rId22" Type="http://schemas.openxmlformats.org/officeDocument/2006/relationships/slide" Target="slides/slide16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1" Type="http://schemas.openxmlformats.org/officeDocument/2006/relationships/slide" Target="slides/slide25.xml"/><Relationship Id="rId35" Type="http://schemas.openxmlformats.org/officeDocument/2006/relationships/slide" Target="slides/slide29.xml"/><Relationship Id="rId45" Type="http://schemas.openxmlformats.org/officeDocument/2006/relationships/slide" Target="slides/slide39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image" Target="../media/image23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Relationship Id="rId3" Type="http://schemas.openxmlformats.org/officeDocument/2006/relationships/image" Target="../media/image5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7" name="Picture 6" descr="exec-1df43a8b-716c-4906-b253-38da857ae1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77240" y="594360"/>
            <a:ext cx="10058400" cy="3657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22579F"/>
                </a:solidFill>
                <a:latin typeface="맑은 고딕"/>
              </a:rPr>
              <a:t>SECURITY PORTFOLIO   /  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1828800"/>
            <a:ext cx="10607040" cy="10972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1200"/>
              </a:spcAft>
            </a:pPr>
            <a:r>
              <a:rPr sz="3600" b="1">
                <a:solidFill>
                  <a:srgbClr val="22579F"/>
                </a:solidFill>
                <a:latin typeface="맑은 고딕"/>
              </a:rPr>
              <a:t>웹 취약점 분석 포트폴리오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907792"/>
            <a:ext cx="10515600" cy="5029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r>
              <a:rPr>
                <a:solidFill>
                  <a:srgbClr val="1B3146"/>
                </a:solidFill>
                <a:latin typeface="맑은 고딕"/>
              </a:rPr>
              <a:t>bWAPP  ·  DVWA  ·  Juice 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138928"/>
            <a:ext cx="9144000" cy="420624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B3146"/>
                </a:solidFill>
                <a:latin typeface="맑은 고딕"/>
              </a:rPr>
              <a:t>김소윤   |   정보보호학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687568"/>
            <a:ext cx="9144000" cy="3657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1B3146"/>
                </a:solidFill>
                <a:latin typeface="맑은 고딕"/>
              </a:rPr>
              <a:t>bWAPP  ·  DVWA  ·  Juice Shop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Rectangle 12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387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475488"/>
            <a:ext cx="68580" cy="576072"/>
          </a:xfrm>
          <a:prstGeom prst="rect">
            <a:avLst/>
          </a:prstGeom>
          <a:solidFill>
            <a:srgbClr val="459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3A7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881360" y="5989320"/>
            <a:ext cx="1307592" cy="420624"/>
          </a:xfrm>
          <a:prstGeom prst="roundRect">
            <a:avLst/>
          </a:prstGeom>
          <a:solidFill>
            <a:srgbClr val="D1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332720" y="5989320"/>
            <a:ext cx="1856231" cy="420624"/>
          </a:xfrm>
          <a:prstGeom prst="roundRect">
            <a:avLst/>
          </a:prstGeom>
          <a:solidFill>
            <a:srgbClr val="E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731520" y="457200"/>
            <a:ext cx="10789920" cy="64008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1200"/>
              </a:spcAft>
            </a:pPr>
            <a:r>
              <a:rPr sz="3100" b="1">
                <a:solidFill>
                  <a:srgbClr val="235397"/>
                </a:solidFill>
                <a:latin typeface="맑은 고딕"/>
              </a:rPr>
              <a:t>목차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914400" cy="5029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600200"/>
            <a:ext cx="9144000" cy="54864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r>
              <a:t>분석 범위와 bWAPP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221992"/>
            <a:ext cx="9144000" cy="9601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r>
              <a:t>bWAPP 핵심 사례 4건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75887"/>
            <a:ext cx="914400" cy="5029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675887"/>
            <a:ext cx="9144000" cy="54864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r>
              <a:t>Juice Shop과 결론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297680"/>
            <a:ext cx="9144000" cy="7315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r>
              <a:t>Juice Shop 대표 증거와 개선안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10698480" cy="21945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1200"/>
              </a:spcAft>
            </a:pPr>
            <a:r>
              <a:rPr sz="1000" b="0">
                <a:solidFill>
                  <a:srgbClr val="566777"/>
                </a:solidFill>
                <a:latin typeface="맑은 고딕"/>
              </a:rPr>
              <a:t>김소윤  ·  웹 취약점 분석 포트폴리오  · 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73952"/>
            <a:ext cx="56692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Rectangle 13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387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475488"/>
            <a:ext cx="68580" cy="576072"/>
          </a:xfrm>
          <a:prstGeom prst="rect">
            <a:avLst/>
          </a:prstGeom>
          <a:solidFill>
            <a:srgbClr val="459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3A7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881360" y="5989320"/>
            <a:ext cx="1307592" cy="420624"/>
          </a:xfrm>
          <a:prstGeom prst="roundRect">
            <a:avLst/>
          </a:prstGeom>
          <a:solidFill>
            <a:srgbClr val="D1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332720" y="5989320"/>
            <a:ext cx="1856231" cy="420624"/>
          </a:xfrm>
          <a:prstGeom prst="roundRect">
            <a:avLst/>
          </a:prstGeom>
          <a:solidFill>
            <a:srgbClr val="E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731520" y="411480"/>
            <a:ext cx="10789920" cy="6400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200"/>
              </a:spcAft>
            </a:pPr>
            <a:r>
              <a:rPr sz="3000" b="1">
                <a:solidFill>
                  <a:srgbClr val="235397"/>
                </a:solidFill>
                <a:latin typeface="맑은 고딕"/>
              </a:rPr>
              <a:t>분석 범위와 방법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143000"/>
            <a:ext cx="10698480" cy="5943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536374"/>
                </a:solidFill>
                <a:latin typeface="맑은 고딕"/>
              </a:rPr>
              <a:t>실습 기록을 바탕으로 작성한 사례 연구. 새 공격이나 조치 후 재검증은 수행하지 않았습니다.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10528"/>
            <a:ext cx="10698480" cy="21945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r>
              <a:rPr sz="1000">
                <a:solidFill>
                  <a:srgbClr val="566777"/>
                </a:solidFill>
                <a:latin typeface="맑은 고딕"/>
              </a:rPr>
              <a:t>김소윤  ·  웹 취약점 분석 포트폴리오  ·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3429000" cy="5486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008991"/>
                </a:solidFill>
                <a:latin typeface="맑은 고딕"/>
              </a:rPr>
              <a:t>대상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06040"/>
            <a:ext cx="3429000" cy="34747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13253D"/>
                </a:solidFill>
                <a:latin typeface="맑은 고딕"/>
              </a:rPr>
              <a:t>bWAPP, Security Level 0 (Low)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13253D"/>
                </a:solidFill>
                <a:latin typeface="맑은 고딕"/>
              </a:rPr>
              <a:t>DVWA, Security Level Low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13253D"/>
                </a:solidFill>
                <a:latin typeface="맑은 고딕"/>
              </a:rPr>
              <a:t>사설망의 교육용 실습 환경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8160" y="1920240"/>
            <a:ext cx="3429000" cy="5486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008991"/>
                </a:solidFill>
                <a:latin typeface="맑은 고딕"/>
              </a:rPr>
              <a:t>확인 과정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8160" y="2606040"/>
            <a:ext cx="3429000" cy="34747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13253D"/>
                </a:solidFill>
                <a:latin typeface="맑은 고딕"/>
              </a:rPr>
              <a:t>정상 요청 확인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13253D"/>
                </a:solidFill>
                <a:latin typeface="맑은 고딕"/>
              </a:rPr>
              <a:t>입력값 변경 및 응답 비교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13253D"/>
                </a:solidFill>
                <a:latin typeface="맑은 고딕"/>
              </a:rPr>
              <a:t>화면·요청 기록으로 결과 정리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79080" y="1920240"/>
            <a:ext cx="3429000" cy="5486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008991"/>
                </a:solidFill>
                <a:latin typeface="맑은 고딕"/>
              </a:rPr>
              <a:t>도구와 산출물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79080" y="2606040"/>
            <a:ext cx="3429000" cy="34747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13253D"/>
                </a:solidFill>
                <a:latin typeface="맑은 고딕"/>
              </a:rPr>
              <a:t>Chrome DevTools, curl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13253D"/>
                </a:solidFill>
                <a:latin typeface="맑은 고딕"/>
              </a:rPr>
              <a:t>Burp Suite Community Edition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13253D"/>
                </a:solidFill>
                <a:latin typeface="맑은 고딕"/>
              </a:rPr>
              <a:t>취약점별 원인·영향·대응안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73952"/>
            <a:ext cx="56692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Rectangle 15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387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475488"/>
            <a:ext cx="68580" cy="576072"/>
          </a:xfrm>
          <a:prstGeom prst="rect">
            <a:avLst/>
          </a:prstGeom>
          <a:solidFill>
            <a:srgbClr val="459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3A7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881360" y="5989320"/>
            <a:ext cx="1307592" cy="420624"/>
          </a:xfrm>
          <a:prstGeom prst="roundRect">
            <a:avLst/>
          </a:prstGeom>
          <a:solidFill>
            <a:srgbClr val="D1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332720" y="5989320"/>
            <a:ext cx="1856231" cy="420624"/>
          </a:xfrm>
          <a:prstGeom prst="roundRect">
            <a:avLst/>
          </a:prstGeom>
          <a:solidFill>
            <a:srgbClr val="E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731520" y="411480"/>
            <a:ext cx="10789920" cy="6400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200"/>
              </a:spcAft>
            </a:pPr>
            <a:r>
              <a:rPr sz="3000" b="1">
                <a:solidFill>
                  <a:srgbClr val="235397"/>
                </a:solidFill>
                <a:latin typeface="맑은 고딕"/>
              </a:rPr>
              <a:t>확인된 네 가지 취약점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143000"/>
            <a:ext cx="10698480" cy="5943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536374"/>
                </a:solidFill>
                <a:latin typeface="맑은 고딕"/>
              </a:rPr>
              <a:t>가격·수량 변경 기록은 IDOR를 입증하지 못하므로 분석 건수에서 제외했습니다.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10528"/>
            <a:ext cx="10698480" cy="21945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r>
              <a:rPr sz="1000">
                <a:solidFill>
                  <a:srgbClr val="566777"/>
                </a:solidFill>
                <a:latin typeface="맑은 고딕"/>
              </a:rPr>
              <a:t>김소윤  ·  웹 취약점 분석 포트폴리오  ·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2571750" cy="5486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008991"/>
                </a:solidFill>
                <a:latin typeface="맑은 고딕"/>
              </a:rPr>
              <a:t>SQL Injection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60320"/>
            <a:ext cx="2571750" cy="34747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13253D"/>
                </a:solidFill>
                <a:latin typeface="맑은 고딕"/>
              </a:rPr>
              <a:t>영화 검색 입력으로 전체 목록 출력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13253D"/>
                </a:solidFill>
                <a:latin typeface="맑은 고딕"/>
              </a:rPr>
              <a:t>입력값이 쿼리 구조에 영향을 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40430" y="1874519"/>
            <a:ext cx="2571750" cy="5486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008991"/>
                </a:solidFill>
                <a:latin typeface="맑은 고딕"/>
              </a:rPr>
              <a:t>Stored XSS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40430" y="2560320"/>
            <a:ext cx="2571750" cy="34747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13253D"/>
                </a:solidFill>
                <a:latin typeface="맑은 고딕"/>
              </a:rPr>
              <a:t>입력한 스크립트의 저장 및 재방문 후 실행 기록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03620" y="1874519"/>
            <a:ext cx="2571750" cy="5486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008991"/>
                </a:solidFill>
                <a:latin typeface="맑은 고딕"/>
              </a:rPr>
              <a:t>LFI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03620" y="2560320"/>
            <a:ext cx="2571750" cy="34747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13253D"/>
                </a:solidFill>
                <a:latin typeface="맑은 고딕"/>
              </a:rPr>
              <a:t>language 경로 변경 후 서버 파일 내용 표시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6810" y="1874519"/>
            <a:ext cx="2571750" cy="5486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008991"/>
                </a:solidFill>
                <a:latin typeface="맑은 고딕"/>
              </a:rPr>
              <a:t>Command Injection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6810" y="2560320"/>
            <a:ext cx="2571750" cy="34747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13253D"/>
                </a:solidFill>
                <a:latin typeface="맑은 고딕"/>
              </a:rPr>
              <a:t>target 입력에 명령을 덧붙여 웹 서버 계정 정보 출력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73952"/>
            <a:ext cx="56692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Rectangle 13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387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475488"/>
            <a:ext cx="68580" cy="576072"/>
          </a:xfrm>
          <a:prstGeom prst="rect">
            <a:avLst/>
          </a:prstGeom>
          <a:solidFill>
            <a:srgbClr val="459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3A7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881360" y="5989320"/>
            <a:ext cx="1307592" cy="420624"/>
          </a:xfrm>
          <a:prstGeom prst="roundRect">
            <a:avLst/>
          </a:prstGeom>
          <a:solidFill>
            <a:srgbClr val="D1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332720" y="5989320"/>
            <a:ext cx="1856231" cy="420624"/>
          </a:xfrm>
          <a:prstGeom prst="roundRect">
            <a:avLst/>
          </a:prstGeom>
          <a:solidFill>
            <a:srgbClr val="E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731520" y="411480"/>
            <a:ext cx="10789920" cy="6400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200"/>
              </a:spcAft>
            </a:pPr>
            <a:r>
              <a:rPr sz="3000" b="1">
                <a:solidFill>
                  <a:srgbClr val="235397"/>
                </a:solidFill>
                <a:latin typeface="맑은 고딕"/>
              </a:rPr>
              <a:t>사례 01  SQL 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143000"/>
            <a:ext cx="10698480" cy="5943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536374"/>
                </a:solidFill>
                <a:latin typeface="맑은 고딕"/>
              </a:rPr>
              <a:t>bWAPP /sqli_1.php · 영화 검색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10528"/>
            <a:ext cx="10698480" cy="21945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r>
              <a:rPr sz="1000">
                <a:solidFill>
                  <a:srgbClr val="566777"/>
                </a:solidFill>
                <a:latin typeface="맑은 고딕"/>
              </a:rPr>
              <a:t>김소윤  ·  웹 취약점 분석 포트폴리오  ·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3429000" cy="5486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008991"/>
                </a:solidFill>
                <a:latin typeface="맑은 고딕"/>
              </a:rPr>
              <a:t>관찰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06040"/>
            <a:ext cx="3429000" cy="34747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13253D"/>
                </a:solidFill>
                <a:latin typeface="맑은 고딕"/>
              </a:rPr>
              <a:t>검색 조건을 변경했을 때 전체 영화 데이터가 출력된 것으로 기록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8160" y="1920240"/>
            <a:ext cx="3429000" cy="5486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008991"/>
                </a:solidFill>
                <a:latin typeface="맑은 고딕"/>
              </a:rPr>
              <a:t>원인 판단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8160" y="2606040"/>
            <a:ext cx="3429000" cy="34747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13253D"/>
                </a:solidFill>
                <a:latin typeface="맑은 고딕"/>
              </a:rPr>
              <a:t>검색 입력이 SQL 문 구조에 영향을 준 정황. 실제 쿼리 소스는 확인되지 않음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79080" y="1920240"/>
            <a:ext cx="3429000" cy="5486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008991"/>
                </a:solidFill>
                <a:latin typeface="맑은 고딕"/>
              </a:rPr>
              <a:t>개선안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79080" y="2606040"/>
            <a:ext cx="3429000" cy="34747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13253D"/>
                </a:solidFill>
                <a:latin typeface="맑은 고딕"/>
              </a:rPr>
              <a:t>Prepared Statement로 데이터와 SQL 구문 분리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13253D"/>
                </a:solidFill>
                <a:latin typeface="맑은 고딕"/>
              </a:rPr>
              <a:t>DB 계정 최소 권한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73952"/>
            <a:ext cx="56692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Rectangle 13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387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475488"/>
            <a:ext cx="68580" cy="576072"/>
          </a:xfrm>
          <a:prstGeom prst="rect">
            <a:avLst/>
          </a:prstGeom>
          <a:solidFill>
            <a:srgbClr val="459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3A7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881360" y="5989320"/>
            <a:ext cx="1307592" cy="420624"/>
          </a:xfrm>
          <a:prstGeom prst="roundRect">
            <a:avLst/>
          </a:prstGeom>
          <a:solidFill>
            <a:srgbClr val="D1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332720" y="5989320"/>
            <a:ext cx="1856231" cy="420624"/>
          </a:xfrm>
          <a:prstGeom prst="roundRect">
            <a:avLst/>
          </a:prstGeom>
          <a:solidFill>
            <a:srgbClr val="E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731520" y="411480"/>
            <a:ext cx="10789920" cy="6400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200"/>
              </a:spcAft>
            </a:pPr>
            <a:r>
              <a:rPr sz="3000" b="1">
                <a:solidFill>
                  <a:srgbClr val="235397"/>
                </a:solidFill>
                <a:latin typeface="맑은 고딕"/>
              </a:rPr>
              <a:t>사례 02  Stored XSS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143000"/>
            <a:ext cx="10698480" cy="5943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536374"/>
                </a:solidFill>
                <a:latin typeface="맑은 고딕"/>
              </a:rPr>
              <a:t>bWAPP /xss_stored_1.php · 게시 입력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10528"/>
            <a:ext cx="10698480" cy="21945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r>
              <a:rPr sz="1000">
                <a:solidFill>
                  <a:srgbClr val="566777"/>
                </a:solidFill>
                <a:latin typeface="맑은 고딕"/>
              </a:rPr>
              <a:t>김소윤  ·  웹 취약점 분석 포트폴리오  ·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3429000" cy="5486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008991"/>
                </a:solidFill>
                <a:latin typeface="맑은 고딕"/>
              </a:rPr>
              <a:t>관찰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06040"/>
            <a:ext cx="3429000" cy="34747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13253D"/>
                </a:solidFill>
                <a:latin typeface="맑은 고딕"/>
              </a:rPr>
              <a:t>입력 내용을 저장한 후 다시 열었을 때 브라우저에서 스크립트 실행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8160" y="1920240"/>
            <a:ext cx="3429000" cy="5486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008991"/>
                </a:solidFill>
                <a:latin typeface="맑은 고딕"/>
              </a:rPr>
              <a:t>영향 범위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8160" y="2606040"/>
            <a:ext cx="3429000" cy="34747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13253D"/>
                </a:solidFill>
                <a:latin typeface="맑은 고딕"/>
              </a:rPr>
              <a:t>페이지를 보는 사용자의 브라우저에서 코드 실행 가능. 쿠키 탈취는 실증하지 않음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79080" y="1920240"/>
            <a:ext cx="3429000" cy="5486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008991"/>
                </a:solidFill>
                <a:latin typeface="맑은 고딕"/>
              </a:rPr>
              <a:t>개선안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79080" y="2606040"/>
            <a:ext cx="3429000" cy="34747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13253D"/>
                </a:solidFill>
                <a:latin typeface="맑은 고딕"/>
              </a:rPr>
              <a:t>출력 위치에 맞는 인코딩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13253D"/>
                </a:solidFill>
                <a:latin typeface="맑은 고딕"/>
              </a:rPr>
              <a:t>허용 HTML 정제 및 CSP 보조 적용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73952"/>
            <a:ext cx="56692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387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475488"/>
            <a:ext cx="68580" cy="576072"/>
          </a:xfrm>
          <a:prstGeom prst="rect">
            <a:avLst/>
          </a:prstGeom>
          <a:solidFill>
            <a:srgbClr val="459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3A7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881360" y="5989320"/>
            <a:ext cx="1307592" cy="420624"/>
          </a:xfrm>
          <a:prstGeom prst="roundRect">
            <a:avLst/>
          </a:prstGeom>
          <a:solidFill>
            <a:srgbClr val="D1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332720" y="5989320"/>
            <a:ext cx="1856231" cy="420624"/>
          </a:xfrm>
          <a:prstGeom prst="roundRect">
            <a:avLst/>
          </a:prstGeom>
          <a:solidFill>
            <a:srgbClr val="E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731520" y="411480"/>
            <a:ext cx="10789920" cy="6400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200"/>
              </a:spcAft>
            </a:pPr>
            <a:r>
              <a:rPr sz="3000" b="1">
                <a:solidFill>
                  <a:srgbClr val="235397"/>
                </a:solidFill>
                <a:latin typeface="맑은 고딕"/>
              </a:rPr>
              <a:t>사례 03·04  서버 입력 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143000"/>
            <a:ext cx="10698480" cy="5943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536374"/>
                </a:solidFill>
                <a:latin typeface="맑은 고딕"/>
              </a:rPr>
              <a:t>파일 경로와 운영체제 명령에 전달되는 입력을 확인했습니다.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10528"/>
            <a:ext cx="10698480" cy="21945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r>
              <a:rPr sz="1000">
                <a:solidFill>
                  <a:srgbClr val="566777"/>
                </a:solidFill>
                <a:latin typeface="맑은 고딕"/>
              </a:rPr>
              <a:t>김소윤  ·  웹 취약점 분석 포트폴리오  ·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5143500" cy="5486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008991"/>
                </a:solidFill>
                <a:latin typeface="맑은 고딕"/>
              </a:rPr>
              <a:t>Local File Inclusion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60320"/>
            <a:ext cx="5143500" cy="34747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13253D"/>
                </a:solidFill>
                <a:latin typeface="맑은 고딕"/>
              </a:rPr>
              <a:t>/rlfi.php의 language 변경 후 서버 파일 내용 표시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13253D"/>
                </a:solidFill>
                <a:latin typeface="맑은 고딕"/>
              </a:rPr>
              <a:t>허용 파일 목록으로 경로 선택 제한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03620" y="1874519"/>
            <a:ext cx="5143500" cy="5486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008991"/>
                </a:solidFill>
                <a:latin typeface="맑은 고딕"/>
              </a:rPr>
              <a:t>Command Injection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03620" y="2560320"/>
            <a:ext cx="5143500" cy="34747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13253D"/>
                </a:solidFill>
                <a:latin typeface="맑은 고딕"/>
              </a:rPr>
              <a:t>/commandi.php의 target 변경 후 웹 서버 계정 정보 출력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13253D"/>
                </a:solidFill>
                <a:latin typeface="맑은 고딕"/>
              </a:rPr>
              <a:t>셸 호출 제거, 불가피하면 안전한 인자 처리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73952"/>
            <a:ext cx="56692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387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475488"/>
            <a:ext cx="68580" cy="576072"/>
          </a:xfrm>
          <a:prstGeom prst="rect">
            <a:avLst/>
          </a:prstGeom>
          <a:solidFill>
            <a:srgbClr val="459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3A7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881360" y="5989320"/>
            <a:ext cx="1307592" cy="420624"/>
          </a:xfrm>
          <a:prstGeom prst="roundRect">
            <a:avLst/>
          </a:prstGeom>
          <a:solidFill>
            <a:srgbClr val="D1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332720" y="5989320"/>
            <a:ext cx="1856231" cy="420624"/>
          </a:xfrm>
          <a:prstGeom prst="roundRect">
            <a:avLst/>
          </a:prstGeom>
          <a:solidFill>
            <a:srgbClr val="E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731520" y="411480"/>
            <a:ext cx="10789920" cy="6400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200"/>
              </a:spcAft>
            </a:pPr>
            <a:r>
              <a:rPr sz="3000" b="1">
                <a:solidFill>
                  <a:srgbClr val="235397"/>
                </a:solidFill>
                <a:latin typeface="맑은 고딕"/>
              </a:rPr>
              <a:t>진단 후 우선 조치와 한계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143000"/>
            <a:ext cx="10698480" cy="5943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536374"/>
                </a:solidFill>
                <a:latin typeface="맑은 고딕"/>
              </a:rPr>
              <a:t>실습용 취약 애플리케이션의 결과이며 운영 서비스의 위험도 평가는 별도로 필요합니다.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10528"/>
            <a:ext cx="10698480" cy="21945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r>
              <a:rPr sz="1000">
                <a:solidFill>
                  <a:srgbClr val="566777"/>
                </a:solidFill>
                <a:latin typeface="맑은 고딕"/>
              </a:rPr>
              <a:t>김소윤  ·  웹 취약점 분석 포트폴리오  ·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5143500" cy="5486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008991"/>
                </a:solidFill>
                <a:latin typeface="맑은 고딕"/>
              </a:rPr>
              <a:t>우선 조치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06040"/>
            <a:ext cx="5143500" cy="34747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13253D"/>
                </a:solidFill>
                <a:latin typeface="맑은 고딕"/>
              </a:rPr>
              <a:t>SQL 쿼리 매개변수화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13253D"/>
                </a:solidFill>
                <a:latin typeface="맑은 고딕"/>
              </a:rPr>
              <a:t>셸 명령 호출 제거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13253D"/>
                </a:solidFill>
                <a:latin typeface="맑은 고딕"/>
              </a:rPr>
              <a:t>출력 인코딩 적용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13253D"/>
                </a:solidFill>
                <a:latin typeface="맑은 고딕"/>
              </a:rPr>
              <a:t>파일 경로 허용 목록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03620" y="1920240"/>
            <a:ext cx="5143500" cy="5486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008991"/>
                </a:solidFill>
                <a:latin typeface="맑은 고딕"/>
              </a:rPr>
              <a:t>확인해야 할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03620" y="2606040"/>
            <a:ext cx="5143500" cy="34747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13253D"/>
                </a:solidFill>
                <a:latin typeface="맑은 고딕"/>
              </a:rPr>
              <a:t>수정 코드와 재시험 결과 확보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13253D"/>
                </a:solidFill>
                <a:latin typeface="맑은 고딕"/>
              </a:rPr>
              <a:t>인증 조건 및 영향 범위 확인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13253D"/>
                </a:solidFill>
                <a:latin typeface="맑은 고딕"/>
              </a:rPr>
              <a:t>증거 화면과 원본 요청 대조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73952"/>
            <a:ext cx="56692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Rectangle 10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387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475488"/>
            <a:ext cx="68580" cy="576072"/>
          </a:xfrm>
          <a:prstGeom prst="rect">
            <a:avLst/>
          </a:prstGeom>
          <a:solidFill>
            <a:srgbClr val="459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3A7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881360" y="5989320"/>
            <a:ext cx="1307592" cy="420624"/>
          </a:xfrm>
          <a:prstGeom prst="roundRect">
            <a:avLst/>
          </a:prstGeom>
          <a:solidFill>
            <a:srgbClr val="D1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332720" y="5989320"/>
            <a:ext cx="1856231" cy="420624"/>
          </a:xfrm>
          <a:prstGeom prst="roundRect">
            <a:avLst/>
          </a:prstGeom>
          <a:solidFill>
            <a:srgbClr val="E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731520" y="384048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235397"/>
                </a:solidFill>
                <a:latin typeface="맑은 고딕"/>
              </a:rPr>
              <a:t>Juice Shop 1단계  ·  DOM XSS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9728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66777"/>
                </a:solidFill>
                <a:latin typeface="맑은 고딕"/>
              </a:rPr>
              <a:t>검색 입력과 실행 결과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" y="1719072"/>
            <a:ext cx="5431536" cy="1441037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BE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0000001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828800"/>
            <a:ext cx="5212080" cy="1221581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135624" y="1719072"/>
            <a:ext cx="5431536" cy="279495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BE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00000013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828800"/>
            <a:ext cx="5212080" cy="2575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4672" y="525780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3253D"/>
                </a:solidFill>
                <a:latin typeface="맑은 고딕"/>
              </a:rPr>
              <a:t>경고창과 챌린지 완료 화면으로 브라우저 내 스크립트 실행을 확인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10698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66777"/>
                </a:solidFill>
                <a:latin typeface="맑은 고딕"/>
              </a:rPr>
              <a:t>김소윤  ·  웹 취약점 분석 포트폴리오  · 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73952"/>
            <a:ext cx="56692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08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Rectangle 10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387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475488"/>
            <a:ext cx="68580" cy="576072"/>
          </a:xfrm>
          <a:prstGeom prst="rect">
            <a:avLst/>
          </a:prstGeom>
          <a:solidFill>
            <a:srgbClr val="459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3A7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881360" y="5989320"/>
            <a:ext cx="1307592" cy="420624"/>
          </a:xfrm>
          <a:prstGeom prst="roundRect">
            <a:avLst/>
          </a:prstGeom>
          <a:solidFill>
            <a:srgbClr val="D1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332720" y="5989320"/>
            <a:ext cx="1856231" cy="420624"/>
          </a:xfrm>
          <a:prstGeom prst="roundRect">
            <a:avLst/>
          </a:prstGeom>
          <a:solidFill>
            <a:srgbClr val="E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731520" y="384048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35397"/>
                </a:solidFill>
                <a:latin typeface="맑은 고딕"/>
              </a:rPr>
              <a:t>Juice Shop 2단계  ·  접근 제어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88136"/>
            <a:ext cx="10607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66777"/>
                </a:solidFill>
                <a:latin typeface="맑은 고딕"/>
              </a:rPr>
              <a:t>관리자 화면과 장바구니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581912"/>
            <a:ext cx="104698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3253D"/>
                </a:solidFill>
                <a:latin typeface="맑은 고딕"/>
              </a:rPr>
              <a:t>관리자 화면 접근과 타인 장바구니 보기 챌린지 완료 확인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" y="2404872"/>
            <a:ext cx="5431536" cy="286282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BE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0000001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514600"/>
            <a:ext cx="5212080" cy="2643366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135624" y="2404872"/>
            <a:ext cx="5431536" cy="2839069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BE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00000017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2514600"/>
            <a:ext cx="5212080" cy="261961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510528"/>
            <a:ext cx="10698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66777"/>
                </a:solidFill>
                <a:latin typeface="맑은 고딕"/>
              </a:rPr>
              <a:t>김소윤  ·  웹 취약점 분석 포트폴리오  · 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73952"/>
            <a:ext cx="56692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09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Rectangle 9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387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475488"/>
            <a:ext cx="68580" cy="576072"/>
          </a:xfrm>
          <a:prstGeom prst="rect">
            <a:avLst/>
          </a:prstGeom>
          <a:solidFill>
            <a:srgbClr val="459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3A7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881360" y="5989320"/>
            <a:ext cx="1307592" cy="420624"/>
          </a:xfrm>
          <a:prstGeom prst="roundRect">
            <a:avLst/>
          </a:prstGeom>
          <a:solidFill>
            <a:srgbClr val="D1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332720" y="5989320"/>
            <a:ext cx="1856231" cy="420624"/>
          </a:xfrm>
          <a:prstGeom prst="roundRect">
            <a:avLst/>
          </a:prstGeom>
          <a:solidFill>
            <a:srgbClr val="E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68580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35397"/>
                </a:solidFill>
                <a:latin typeface="맑은 고딕"/>
              </a:rPr>
              <a:t>Juice Shop 3단계  업로드 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14300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283E"/>
                </a:solidFill>
                <a:latin typeface="맑은 고딕"/>
              </a:rPr>
              <a:t>화면에서 거부한 TXT 파일과 100 KB를 넘는 파일을 API 요청으로 제출해 각각의 과제 완료 알림을 확인했다.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" y="2313432"/>
            <a:ext cx="5294376" cy="277013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BE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4-10000003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423160"/>
            <a:ext cx="5074920" cy="2550675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062472" y="2313432"/>
            <a:ext cx="5294376" cy="2763523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BE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7-10000003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423160"/>
            <a:ext cx="5074920" cy="25440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51052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4283E"/>
                </a:solidFill>
                <a:latin typeface="맑은 고딕"/>
              </a:rPr>
              <a:t>김소윤  ·  웹 취약점 분석 포트폴리오  ·  OWASP Juice Shop 교육용 환경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73952"/>
            <a:ext cx="56692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Rectangle 9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387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475488"/>
            <a:ext cx="68580" cy="576072"/>
          </a:xfrm>
          <a:prstGeom prst="rect">
            <a:avLst/>
          </a:prstGeom>
          <a:solidFill>
            <a:srgbClr val="459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3A77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881360" y="5989320"/>
            <a:ext cx="1307592" cy="420624"/>
          </a:xfrm>
          <a:prstGeom prst="roundRect">
            <a:avLst/>
          </a:prstGeom>
          <a:solidFill>
            <a:srgbClr val="D1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332720" y="5989320"/>
            <a:ext cx="1856231" cy="420624"/>
          </a:xfrm>
          <a:prstGeom prst="roundRect">
            <a:avLst/>
          </a:prstGeom>
          <a:solidFill>
            <a:srgbClr val="E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68580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35397"/>
                </a:solidFill>
                <a:latin typeface="맑은 고딕"/>
              </a:rPr>
              <a:t>Juice Shop 3단계  객체 인가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14300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4283E"/>
                </a:solidFill>
                <a:latin typeface="맑은 고딕"/>
              </a:rPr>
              <a:t>다른 사용자 명의 피드백과 다른 사용자의 장바구니 항목 추가가 완료 알림으로 확인됐다.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" y="2313432"/>
            <a:ext cx="5294376" cy="2793259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BE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-10000003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423160"/>
            <a:ext cx="5074920" cy="2573803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062472" y="2313432"/>
            <a:ext cx="5294376" cy="1603825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BE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0-10000003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423160"/>
            <a:ext cx="5074920" cy="138436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51052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4283E"/>
                </a:solidFill>
                <a:latin typeface="맑은 고딕"/>
              </a:rPr>
              <a:t>김소윤  ·  웹 취약점 분석 포트폴리오  ·  OWASP Juice Shop 교육용 환경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73952"/>
            <a:ext cx="56692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387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475488"/>
            <a:ext cx="68580" cy="576072"/>
          </a:xfrm>
          <a:prstGeom prst="rect">
            <a:avLst/>
          </a:prstGeom>
          <a:solidFill>
            <a:srgbClr val="459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24E8E"/>
                </a:solidFill>
                <a:latin typeface="맑은 고딕"/>
              </a:rPr>
              <a:t>Juice Shop 4단계  SQL Injection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78992"/>
            <a:ext cx="10515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24E8E"/>
                </a:solidFill>
                <a:latin typeface="맑은 고딕"/>
              </a:rPr>
              <a:t>User Credentials 챌린지 완료. 계정 목록과 해시가 담긴 원본 응답은 문서에서 제외했다.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23504" y="2377440"/>
            <a:ext cx="6944686" cy="3502152"/>
          </a:xfrm>
          <a:prstGeom prst="roundRect">
            <a:avLst/>
          </a:prstGeom>
          <a:solidFill>
            <a:srgbClr val="FFFFFF"/>
          </a:solidFill>
          <a:ln>
            <a:solidFill>
              <a:srgbClr val="CBE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2-10000003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944" y="2468880"/>
            <a:ext cx="6761806" cy="33192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47395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24E8E"/>
                </a:solidFill>
                <a:latin typeface="맑은 고딕"/>
              </a:rPr>
              <a:t>김소윤  ·  웹 취약점 분석 포트폴리오  ·  OWASP Juice 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33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9768" y="530352"/>
            <a:ext cx="100584" cy="640080"/>
          </a:xfrm>
          <a:prstGeom prst="roundRect">
            <a:avLst/>
          </a:prstGeom>
          <a:solidFill>
            <a:srgbClr val="4FB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38912"/>
            <a:ext cx="10789920" cy="53035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84A8B"/>
                </a:solidFill>
                <a:latin typeface="맑은 고딕"/>
              </a:rPr>
              <a:t>Juice Shop 4단계  비밀번호 재설정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005840"/>
            <a:ext cx="10789920" cy="53035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46627E"/>
                </a:solidFill>
                <a:latin typeface="맑은 고딕"/>
              </a:rPr>
              <a:t>Uvogin 보안 질문을 통한 재설정 완료 화면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28176"/>
            <a:ext cx="5180076" cy="2720518"/>
          </a:xfrm>
          <a:prstGeom prst="roundRect">
            <a:avLst/>
          </a:prstGeom>
          <a:solidFill>
            <a:srgbClr val="FFFFFF"/>
          </a:solidFill>
          <a:ln>
            <a:solidFill>
              <a:srgbClr val="BCD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2-100000037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219616"/>
            <a:ext cx="4997196" cy="253763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158483" y="2115163"/>
            <a:ext cx="5180076" cy="2746545"/>
          </a:xfrm>
          <a:prstGeom prst="roundRect">
            <a:avLst/>
          </a:prstGeom>
          <a:solidFill>
            <a:srgbClr val="FFFFFF"/>
          </a:solidFill>
          <a:ln>
            <a:solidFill>
              <a:srgbClr val="BCD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4-100000037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9923" y="2206603"/>
            <a:ext cx="4997196" cy="256366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1520" y="5532120"/>
            <a:ext cx="10735056" cy="658368"/>
          </a:xfrm>
          <a:prstGeom prst="roundRect">
            <a:avLst/>
          </a:prstGeom>
          <a:solidFill>
            <a:srgbClr val="DAE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660136"/>
            <a:ext cx="10195560" cy="3931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F4B7F"/>
                </a:solidFill>
                <a:latin typeface="맑은 고딕"/>
              </a:rPr>
              <a:t>개선  일회성 복구 링크와 빈도 제한을 적용한다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6519672"/>
            <a:ext cx="8961120" cy="2194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77C9B"/>
                </a:solidFill>
                <a:latin typeface="맑은 고딕"/>
              </a:rPr>
              <a:t>김소윤  ·  OWASP Juice Shop 4단계  ·  교육용 실습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37392" y="6492240"/>
            <a:ext cx="59436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r>
              <a:t>12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337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9768" y="493776"/>
            <a:ext cx="91440" cy="658368"/>
          </a:xfrm>
          <a:prstGeom prst="roundRect">
            <a:avLst/>
          </a:prstGeom>
          <a:solidFill>
            <a:srgbClr val="51B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02336"/>
            <a:ext cx="10744200" cy="5486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2600" b="1">
                <a:solidFill>
                  <a:srgbClr val="1C4D8D"/>
                </a:solidFill>
                <a:latin typeface="맑은 고딕"/>
              </a:rPr>
              <a:t>Juice Shop 5단계  JWT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987552"/>
            <a:ext cx="10744200" cy="5669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1500" b="0">
                <a:solidFill>
                  <a:srgbClr val="456987"/>
                </a:solidFill>
                <a:latin typeface="맑은 고딕"/>
              </a:rPr>
              <a:t>서명 없는 JWT 과제 완료 · 토큰 원문 제외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22387" y="1687068"/>
            <a:ext cx="7379585" cy="3584448"/>
          </a:xfrm>
          <a:prstGeom prst="roundRect">
            <a:avLst/>
          </a:prstGeom>
          <a:solidFill>
            <a:srgbClr val="FFFFFF"/>
          </a:solidFill>
          <a:ln>
            <a:solidFill>
              <a:srgbClr val="BCD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7-10000004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827" y="1778508"/>
            <a:ext cx="7196705" cy="340156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22376" y="5541264"/>
            <a:ext cx="10753344" cy="667512"/>
          </a:xfrm>
          <a:prstGeom prst="roundRect">
            <a:avLst/>
          </a:prstGeom>
          <a:solidFill>
            <a:srgbClr val="D3E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5669280"/>
            <a:ext cx="10149840" cy="3931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1500" b="1">
                <a:solidFill>
                  <a:srgbClr val="1C4D8D"/>
                </a:solidFill>
                <a:latin typeface="맑은 고딕"/>
              </a:rPr>
              <a:t>개선  알고리즘 제한과 서명·발급자·만료 검증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6510528"/>
            <a:ext cx="9052560" cy="21031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900" b="0">
                <a:solidFill>
                  <a:srgbClr val="5B7C99"/>
                </a:solidFill>
                <a:latin typeface="맑은 고딕"/>
              </a:rPr>
              <a:t>김소윤  ·  OWASP Juice Shop 5단계  ·  교육용 실습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92240"/>
            <a:ext cx="59436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t>14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73736"/>
          </a:xfrm>
          <a:prstGeom prst="rect">
            <a:avLst/>
          </a:prstGeom>
          <a:solidFill>
            <a:srgbClr val="337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9768" y="493776"/>
            <a:ext cx="91440" cy="658368"/>
          </a:xfrm>
          <a:prstGeom prst="roundRect">
            <a:avLst/>
          </a:prstGeom>
          <a:solidFill>
            <a:srgbClr val="51B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02336"/>
            <a:ext cx="10744200" cy="5486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2600" b="1">
                <a:solidFill>
                  <a:srgbClr val="1C4D8D"/>
                </a:solidFill>
                <a:latin typeface="맑은 고딕"/>
              </a:rPr>
              <a:t>Juice Shop 5단계  공개 자원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987552"/>
            <a:ext cx="10744200" cy="5669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1500" b="0">
                <a:solidFill>
                  <a:srgbClr val="456987"/>
                </a:solidFill>
                <a:latin typeface="맑은 고딕"/>
              </a:rPr>
              <a:t>상품 설계도 다운로드 및 별도 번역 파일 접근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179165"/>
            <a:ext cx="5193792" cy="2600253"/>
          </a:xfrm>
          <a:prstGeom prst="roundRect">
            <a:avLst/>
          </a:prstGeom>
          <a:solidFill>
            <a:srgbClr val="FFFFFF"/>
          </a:solidFill>
          <a:ln>
            <a:solidFill>
              <a:srgbClr val="BCD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10000004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270605"/>
            <a:ext cx="5010912" cy="241737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117336" y="2184058"/>
            <a:ext cx="5193792" cy="2590466"/>
          </a:xfrm>
          <a:prstGeom prst="roundRect">
            <a:avLst/>
          </a:prstGeom>
          <a:solidFill>
            <a:srgbClr val="FFFFFF"/>
          </a:solidFill>
          <a:ln>
            <a:solidFill>
              <a:srgbClr val="BCD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4-10000004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776" y="2275498"/>
            <a:ext cx="5010912" cy="240758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22376" y="5541264"/>
            <a:ext cx="10753344" cy="667512"/>
          </a:xfrm>
          <a:prstGeom prst="roundRect">
            <a:avLst/>
          </a:prstGeom>
          <a:solidFill>
            <a:srgbClr val="D3E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" y="5669280"/>
            <a:ext cx="10149840" cy="3931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1500" b="1">
                <a:solidFill>
                  <a:srgbClr val="1C4D8D"/>
                </a:solidFill>
                <a:latin typeface="맑은 고딕"/>
              </a:rPr>
              <a:t>개선  배포 자산 검토와 파일별 접근 권한 적용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6510528"/>
            <a:ext cx="9052560" cy="21031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900" b="0">
                <a:solidFill>
                  <a:srgbClr val="5B7C99"/>
                </a:solidFill>
                <a:latin typeface="맑은 고딕"/>
              </a:rPr>
              <a:t>김소윤  ·  OWASP Juice Shop 5단계  ·  교육용 실습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92240"/>
            <a:ext cx="59436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