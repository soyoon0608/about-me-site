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72e4b7cc530c4ae7" Type="http://schemas.openxmlformats.org/officeDocument/2006/relationships/officeDocument" Target="ppt/presentation.xml"/><Relationship Id="Rb3ce95ad9b044c75" Type="http://schemas.openxmlformats.org/package/2006/relationships/metadata/core-properties" Target="docProps/core.xml"/><Relationship Id="Rcf38471cf115448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225c538b784957"/>
  </p:sldMasterIdLst>
  <p:notesMasterIdLst>
    <p:notesMasterId xmlns:r="http://schemas.openxmlformats.org/officeDocument/2006/relationships" r:id="R45a72aa793fd4f51"/>
  </p:notesMasterIdLst>
  <p:sldIdLst>
    <p:sldId xmlns:r="http://schemas.openxmlformats.org/officeDocument/2006/relationships" id="256" r:id="Rc2ff211096fa40fe"/>
    <p:sldId xmlns:r="http://schemas.openxmlformats.org/officeDocument/2006/relationships" id="257" r:id="Rc1431df16a6d43c3"/>
    <p:sldId xmlns:r="http://schemas.openxmlformats.org/officeDocument/2006/relationships" id="258" r:id="R8317ca3d70ea4a70"/>
    <p:sldId xmlns:ns0="http://schemas.openxmlformats.org/officeDocument/2006/relationships" id="279" ns0:id="rId30"/>
    <p:sldId xmlns:ns0="http://schemas.openxmlformats.org/officeDocument/2006/relationships" id="280" ns0:id="rId31"/>
    <p:sldId xmlns:ns0="http://schemas.openxmlformats.org/officeDocument/2006/relationships" id="281" ns0:id="rId32"/>
    <p:sldId xmlns:ns0="http://schemas.openxmlformats.org/officeDocument/2006/relationships" id="282" ns0:id="rId33"/>
    <p:sldId xmlns:ns0="http://schemas.openxmlformats.org/officeDocument/2006/relationships" id="283" ns0:id="rId34"/>
    <p:sldId xmlns:ns0="http://schemas.openxmlformats.org/officeDocument/2006/relationships" id="284" ns0:id="rId35"/>
    <p:sldId xmlns:ns0="http://schemas.openxmlformats.org/officeDocument/2006/relationships" id="285" ns0:id="rId36"/>
    <p:sldId xmlns:ns0="http://schemas.openxmlformats.org/officeDocument/2006/relationships" id="286" ns0:id="rId37"/>
    <p:sldId xmlns:ns0="http://schemas.openxmlformats.org/officeDocument/2006/relationships" id="287" ns0:id="rId38"/>
    <p:sldId xmlns:ns0="http://schemas.openxmlformats.org/officeDocument/2006/relationships" id="288" ns0:id="rId39"/>
    <p:sldId xmlns:ns0="http://schemas.openxmlformats.org/officeDocument/2006/relationships" id="289" ns0:id="rId40"/>
    <p:sldId xmlns:ns0="http://schemas.openxmlformats.org/officeDocument/2006/relationships" id="290" ns0:id="rId41"/>
    <p:sldId xmlns:ns0="http://schemas.openxmlformats.org/officeDocument/2006/relationships" id="291" ns0:id="rId42"/>
    <p:sldId xmlns:ns0="http://schemas.openxmlformats.org/officeDocument/2006/relationships" id="292" ns0:id="rId43"/>
    <p:sldId xmlns:ns0="http://schemas.openxmlformats.org/officeDocument/2006/relationships" id="293" ns0:id="rId44"/>
    <p:sldId xmlns:ns0="http://schemas.openxmlformats.org/officeDocument/2006/relationships" id="294" ns0:id="rId45"/>
    <p:sldId xmlns:ns0="http://schemas.openxmlformats.org/officeDocument/2006/relationships" id="295" ns0:id="rId46"/>
    <p:sldId xmlns:ns0="http://schemas.openxmlformats.org/officeDocument/2006/relationships" id="296" ns0:id="rId47"/>
    <p:sldId xmlns:ns0="http://schemas.openxmlformats.org/officeDocument/2006/relationships" id="297" ns0:id="rId48"/>
    <p:sldId xmlns:ns0="http://schemas.openxmlformats.org/officeDocument/2006/relationships" id="298" ns0:id="rId49"/>
    <p:sldId xmlns:ns0="http://schemas.openxmlformats.org/officeDocument/2006/relationships" id="299" ns0:id="rId50"/>
    <p:sldId xmlns:ns0="http://schemas.openxmlformats.org/officeDocument/2006/relationships" id="300" ns0:id="rId51"/>
    <p:sldId xmlns:ns0="http://schemas.openxmlformats.org/officeDocument/2006/relationships" id="301" ns0:id="rId52"/>
    <p:sldId xmlns:ns0="http://schemas.openxmlformats.org/officeDocument/2006/relationships" id="302" ns0:id="rId53"/>
    <p:sldId xmlns:ns0="http://schemas.openxmlformats.org/officeDocument/2006/relationships" id="303" ns0:id="rId54"/>
    <p:sldId xmlns:ns0="http://schemas.openxmlformats.org/officeDocument/2006/relationships" id="304" ns0:id="rId55"/>
    <p:sldId xmlns:ns0="http://schemas.openxmlformats.org/officeDocument/2006/relationships" id="305" ns0:id="rId56"/>
    <p:sldId xmlns:ns0="http://schemas.openxmlformats.org/officeDocument/2006/relationships" id="306" ns0:id="rId57"/>
    <p:sldId xmlns:ns0="http://schemas.openxmlformats.org/officeDocument/2006/relationships" id="307" ns0:id="rId58"/>
    <p:sldId xmlns:ns0="http://schemas.openxmlformats.org/officeDocument/2006/relationships" id="308" ns0:id="rId59"/>
    <p:sldId xmlns:r="http://schemas.openxmlformats.org/officeDocument/2006/relationships" id="259" r:id="R3ae8978d26bd448e"/>
    <p:sldId xmlns:r="http://schemas.openxmlformats.org/officeDocument/2006/relationships" id="260" r:id="R6baae30aeb8a421a"/>
    <p:sldId xmlns:r="http://schemas.openxmlformats.org/officeDocument/2006/relationships" id="261" r:id="Rb03933d114414f86"/>
    <p:sldId xmlns:r="http://schemas.openxmlformats.org/officeDocument/2006/relationships" id="262" r:id="R1fa4f771611e4db4"/>
    <p:sldId xmlns:r="http://schemas.openxmlformats.org/officeDocument/2006/relationships" id="263" r:id="R79aafb586482400e"/>
    <p:sldId xmlns:r="http://schemas.openxmlformats.org/officeDocument/2006/relationships" id="264" r:id="R6f814b25c47b4284"/>
    <p:sldId xmlns:r="http://schemas.openxmlformats.org/officeDocument/2006/relationships" id="265" r:id="Rfb3a1fe69d124535"/>
    <p:sldId xmlns:r="http://schemas.openxmlformats.org/officeDocument/2006/relationships" id="266" r:id="R27f7e9ac57b04bd9"/>
    <p:sldId xmlns:r="http://schemas.openxmlformats.org/officeDocument/2006/relationships" id="267" r:id="R7232d25d45a24c8d"/>
    <p:sldId xmlns:r="http://schemas.openxmlformats.org/officeDocument/2006/relationships" id="268" r:id="Rdc680da027eb4a71"/>
    <p:sldId xmlns:r="http://schemas.openxmlformats.org/officeDocument/2006/relationships" id="269" r:id="R32fc211d16d644ac"/>
    <p:sldId xmlns:r="http://schemas.openxmlformats.org/officeDocument/2006/relationships" id="270" r:id="R3f6a363a25d44590"/>
    <p:sldId xmlns:r="http://schemas.openxmlformats.org/officeDocument/2006/relationships" id="271" r:id="R97a1b131e8544918"/>
    <p:sldId xmlns:r="http://schemas.openxmlformats.org/officeDocument/2006/relationships" id="272" r:id="R11ac9e78457646af"/>
    <p:sldId xmlns:r="http://schemas.openxmlformats.org/officeDocument/2006/relationships" id="273" r:id="R85d2aec214fe477f"/>
    <p:sldId xmlns:r="http://schemas.openxmlformats.org/officeDocument/2006/relationships" id="274" r:id="R43efdae7273043f2"/>
    <p:sldId xmlns:r="http://schemas.openxmlformats.org/officeDocument/2006/relationships" id="275" r:id="Rb1ba65aad5ea4446"/>
    <p:sldId xmlns:r="http://schemas.openxmlformats.org/officeDocument/2006/relationships" id="276" r:id="R2f26ec76b5294eb3"/>
    <p:sldId xmlns:r="http://schemas.openxmlformats.org/officeDocument/2006/relationships" id="277" r:id="R93e9275dd65c486b"/>
    <p:sldId xmlns:r="http://schemas.openxmlformats.org/officeDocument/2006/relationships" id="278" r:id="Rf3cd978fb709418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11ac9e78457646af" Type="http://schemas.openxmlformats.org/officeDocument/2006/relationships/slide" Target="slides/slide31.xml"/><Relationship Id="R1fa4f771611e4db4" Type="http://schemas.openxmlformats.org/officeDocument/2006/relationships/slide" Target="slides/slide21.xml"/><Relationship Id="R27f7e9ac57b04bd9" Type="http://schemas.openxmlformats.org/officeDocument/2006/relationships/slide" Target="slides/slide25.xml"/><Relationship Id="R2f26ec76b5294eb3" Type="http://schemas.openxmlformats.org/officeDocument/2006/relationships/slide" Target="slides/slide35.xml"/><Relationship Id="R32fc211d16d644ac" Type="http://schemas.openxmlformats.org/officeDocument/2006/relationships/slide" Target="slides/slide28.xml"/><Relationship Id="R3ae8978d26bd448e" Type="http://schemas.openxmlformats.org/officeDocument/2006/relationships/slide" Target="slides/slide18.xml"/><Relationship Id="R3f6a363a25d44590" Type="http://schemas.openxmlformats.org/officeDocument/2006/relationships/slide" Target="slides/slide29.xml"/><Relationship Id="R43efdae7273043f2" Type="http://schemas.openxmlformats.org/officeDocument/2006/relationships/slide" Target="slides/slide33.xml"/><Relationship Id="R45a72aa793fd4f51" Type="http://schemas.openxmlformats.org/officeDocument/2006/relationships/notesMaster" Target="notesMasters/notesMaster1.xml"/><Relationship Id="R4a225c538b784957" Type="http://schemas.openxmlformats.org/officeDocument/2006/relationships/slideMaster" Target="slideMasters/slideMaster1.xml"/><Relationship Id="R6baae30aeb8a421a" Type="http://schemas.openxmlformats.org/officeDocument/2006/relationships/slide" Target="slides/slide19.xml"/><Relationship Id="R6f814b25c47b4284" Type="http://schemas.openxmlformats.org/officeDocument/2006/relationships/slide" Target="slides/slide23.xml"/><Relationship Id="R7232d25d45a24c8d" Type="http://schemas.openxmlformats.org/officeDocument/2006/relationships/slide" Target="slides/slide26.xml"/><Relationship Id="R77f54a7ce921455c" Type="http://schemas.openxmlformats.org/officeDocument/2006/relationships/theme" Target="theme/theme1.xml"/><Relationship Id="R79aafb586482400e" Type="http://schemas.openxmlformats.org/officeDocument/2006/relationships/slide" Target="slides/slide22.xml"/><Relationship Id="R7a3229fb29284f77" Type="http://schemas.openxmlformats.org/officeDocument/2006/relationships/presProps" Target="presProps.xml"/><Relationship Id="R7fb1d0d92e3b4dc0" Type="http://schemas.openxmlformats.org/officeDocument/2006/relationships/tableStyles" Target="tableStyles.xml"/><Relationship Id="R8317ca3d70ea4a70" Type="http://schemas.openxmlformats.org/officeDocument/2006/relationships/slide" Target="slides/slide3.xml"/><Relationship Id="R85d2aec214fe477f" Type="http://schemas.openxmlformats.org/officeDocument/2006/relationships/slide" Target="slides/slide32.xml"/><Relationship Id="R93e9275dd65c486b" Type="http://schemas.openxmlformats.org/officeDocument/2006/relationships/slide" Target="slides/slide36.xml"/><Relationship Id="R97a1b131e8544918" Type="http://schemas.openxmlformats.org/officeDocument/2006/relationships/slide" Target="slides/slide30.xml"/><Relationship Id="Rb03933d114414f86" Type="http://schemas.openxmlformats.org/officeDocument/2006/relationships/slide" Target="slides/slide20.xml"/><Relationship Id="Rb1ba65aad5ea4446" Type="http://schemas.openxmlformats.org/officeDocument/2006/relationships/slide" Target="slides/slide34.xml"/><Relationship Id="Rc1431df16a6d43c3" Type="http://schemas.openxmlformats.org/officeDocument/2006/relationships/slide" Target="slides/slide2.xml"/><Relationship Id="Rc2ff211096fa40fe" Type="http://schemas.openxmlformats.org/officeDocument/2006/relationships/slide" Target="slides/slide1.xml"/><Relationship Id="Rd3f4246fb6394f1c" Type="http://schemas.openxmlformats.org/officeDocument/2006/relationships/viewProps" Target="viewProps.xml"/><Relationship Id="Rdc680da027eb4a71" Type="http://schemas.openxmlformats.org/officeDocument/2006/relationships/slide" Target="slides/slide27.xml"/><Relationship Id="Rf3cd978fb709418e" Type="http://schemas.openxmlformats.org/officeDocument/2006/relationships/slide" Target="slides/slide37.xml"/><Relationship Id="Rfb3a1fe69d124535" Type="http://schemas.openxmlformats.org/officeDocument/2006/relationships/slide" Target="slides/slide24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0b5575409fec47a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ff8494016074619" Type="http://schemas.openxmlformats.org/officeDocument/2006/relationships/notesMaster" Target="../notesMasters/notesMaster1.xml"/><Relationship Id="R7a88003d7906415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0220da13f9940cd" Type="http://schemas.openxmlformats.org/officeDocument/2006/relationships/slide" Target="../slides/slide2.xml"/><Relationship Id="Rcb8cc3079ae54bc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388122afa2046c4" Type="http://schemas.openxmlformats.org/officeDocument/2006/relationships/notesMaster" Target="../notesMasters/notesMaster1.xml"/><Relationship Id="Rb3f0f2a6a2ba427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dbb4eead592415e" Type="http://schemas.openxmlformats.org/officeDocument/2006/relationships/slide" Target="../slides/slide18.xml"/><Relationship Id="Rc292e25530944b0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e534fbb75d840dd" Type="http://schemas.openxmlformats.org/officeDocument/2006/relationships/slide" Target="../slides/slide19.xml"/><Relationship Id="R7e71605fa9454e2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36d97368b7141aa" Type="http://schemas.openxmlformats.org/officeDocument/2006/relationships/notesMaster" Target="../notesMasters/notesMaster1.xml"/><Relationship Id="Rd1b869ced5d74966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b712dc0a32dd4a43" Type="http://schemas.openxmlformats.org/officeDocument/2006/relationships/notesMaster" Target="../notesMasters/notesMaster1.xml"/><Relationship Id="Rd368ec5b1cef4f36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cb965161e89c4590" Type="http://schemas.openxmlformats.org/officeDocument/2006/relationships/notesMaster" Target="../notesMasters/notesMaster1.xml"/><Relationship Id="Rf8cfeeee5eeb4ad0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2d6f449693f3492a" Type="http://schemas.openxmlformats.org/officeDocument/2006/relationships/notesMaster" Target="../notesMasters/notesMaster1.xml"/><Relationship Id="R85457dcea4bc49ee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4abde61f072e44b8" Type="http://schemas.openxmlformats.org/officeDocument/2006/relationships/slide" Target="../slides/slide24.xml"/><Relationship Id="R846ef0de78cb4d1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32e31243a094c25" Type="http://schemas.openxmlformats.org/officeDocument/2006/relationships/notesMaster" Target="../notesMasters/notesMaster1.xml"/><Relationship Id="Rb17da0050b3c4ee3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32ab27533d364614" Type="http://schemas.openxmlformats.org/officeDocument/2006/relationships/notesMaster" Target="../notesMasters/notesMaster1.xml"/><Relationship Id="Re4e9c3d262514c5d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276d1d36c5bf480f" Type="http://schemas.openxmlformats.org/officeDocument/2006/relationships/notesMaster" Target="../notesMasters/notesMaster1.xml"/><Relationship Id="Re8f9ac6a1d8c4dfe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a9a69825f72740b4" Type="http://schemas.openxmlformats.org/officeDocument/2006/relationships/slide" Target="../slides/slide28.xml"/><Relationship Id="Raed25aacf3454e83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8f0557358d384565" Type="http://schemas.openxmlformats.org/officeDocument/2006/relationships/slide" Target="../slides/slide29.xml"/><Relationship Id="Rdd9e2edca8dc4023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d60cd5643d44085" Type="http://schemas.openxmlformats.org/officeDocument/2006/relationships/notesMaster" Target="../notesMasters/notesMaster1.xml"/><Relationship Id="Rc70caf8672bc499a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b0f264f041da4df1" Type="http://schemas.openxmlformats.org/officeDocument/2006/relationships/slide" Target="../slides/slide31.xml"/><Relationship Id="Rea81b595498f4a6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71cfc78a6204db8" Type="http://schemas.openxmlformats.org/officeDocument/2006/relationships/notesMaster" Target="../notesMasters/notesMaster1.xml"/><Relationship Id="R918f4966a98845e8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91ed8ed8c3fc4cf1" Type="http://schemas.openxmlformats.org/officeDocument/2006/relationships/notesMaster" Target="../notesMasters/notesMaster1.xml"/><Relationship Id="Rc8cec8c23b904126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754bbfde30a14af2" Type="http://schemas.openxmlformats.org/officeDocument/2006/relationships/slide" Target="../slides/slide34.xml"/><Relationship Id="Rb1e9cc76844c4b8c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b1da6c4c6d0c4692" Type="http://schemas.openxmlformats.org/officeDocument/2006/relationships/notesMaster" Target="../notesMasters/notesMaster1.xml"/><Relationship Id="Rf13874d6b49d441e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1d20186b50254c0c" Type="http://schemas.openxmlformats.org/officeDocument/2006/relationships/notesMaster" Target="../notesMasters/notesMaster1.xml"/><Relationship Id="R9cf37f3904db4944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65c697bda10541e8" Type="http://schemas.openxmlformats.org/officeDocument/2006/relationships/slide" Target="../slides/slide37.xml"/><Relationship Id="Rf6b23e42ab2c4c6b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https://app.notion.com/p/GNS3-3c367822c2778012a698c1732b26b3d6</a:t>
            </a:r>
          </a:p>
          <a:p>
            <a:r>
              <a:t>SKT ALEPH &gt; 네트워크의 이해 보충 내용 &gt; GNS3 실습. 작성자가 제공한 image (5)~(19).png와 대조. 화면별 주소 및 실습 단계를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https://app.notion.com/p/ARP-3c667822c277809c9b46caca09dfd387</a:t>
            </a:r>
          </a:p>
          <a:p>
            <a:r>
              <a:t>SKT ALEPH / 네트워크의 이해 보충 내용 / ARP 실습. 제공 캡처 image (5)(1).png~image (11)(1).png와 대조. 주소 대역 및 MAC 차이를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https://app.notion.com/p/ARP-3c667822c277809c9b46caca09dfd387</a:t>
            </a:r>
          </a:p>
          <a:p>
            <a:r>
              <a:t>SKT ALEPH / 네트워크의 이해 보충 내용 / ARP 실습. 제공 캡처 image (5)(1).png~image (11)(1).png와 대조. 주소 대역 및 MAC 차이를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https://app.notion.com/p/ARP-3c667822c277809c9b46caca09dfd387</a:t>
            </a:r>
          </a:p>
          <a:p>
            <a:r>
              <a:t>SKT ALEPH / 네트워크의 이해 보충 내용 / ARP 실습. 제공 캡처 image (5)(1).png~image (11)(1).png와 대조. 주소 대역 및 MAC 차이를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https://app.notion.com/p/ARP-3c667822c277809c9b46caca09dfd387</a:t>
            </a:r>
          </a:p>
          <a:p>
            <a:r>
              <a:t>SKT ALEPH / 네트워크의 이해 보충 내용 / ARP 실습. 제공 캡처 image (5)(1).png~image (11)(1).png와 대조. 주소 대역 및 MAC 차이를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https://app.notion.com/p/ARP-3c667822c277809c9b46caca09dfd387</a:t>
            </a:r>
          </a:p>
          <a:p>
            <a:r>
              <a:t>SKT ALEPH / 네트워크의 이해 보충 내용 / ARP 실습. 제공 캡처 image (5)(1).png~image (11)(1).png와 대조. 주소 대역 및 MAC 차이를 구분함.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양쪽 직렬 인터페이스의 캡슐화를 비교하고 PPP로 맞춘 뒤 라우팅 테이블을 관찰했다.</a:t>
            </a:r>
          </a:p>
          <a:p>
            <a:r>
              <a:t>PPP의 상대 주소 경로와 연결 네트워크를 구분한다. no neighbor-route는 PPP 상대 /32 경로 생성과 관련된 설정이다.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R1–R2–R3 구성에서 각 LAN과 직렬 연결의 주소를 확인했다. 정적 경로의 목적지와 다음 경로를 비교했다.</a:t>
            </a:r>
          </a:p>
          <a:p>
            <a:r>
              <a:t>반대 방향의 반환 경로도 필요하다. 토폴로지의 서브넷과 라우팅 테이블을 함께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말단 R1·R3에서 기본 경로를 사용하고 중앙 R2가 각 네트워크의 경로를 유지하는 구성을 실습했다.</a:t>
            </a:r>
          </a:p>
          <a:p>
            <a:r>
              <a:t>0.0.0.0/0은 더 구체적인 경로가 없을 때 사용한다. ping 결과는 해당 주소와 시험 시점의 도달성을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노션에 inside/outside, 정적 NAT와 overload 설정을 기록했다. 캡처는 송신 주소를 지정한 ping과 패킷을 보여 준다.</a:t>
            </a:r>
          </a:p>
          <a:p>
            <a:r>
              <a:t>NAT 적용 결과는 show ip nat translations와 변환 전후 주소로 확인한다. 송신 주소 지정 ping만으로 변환 성공을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R1~R4를 연결하고 각 라우터의 루프백과 직렬 서브넷을 배치했다.</a:t>
            </a:r>
          </a:p>
          <a:p>
            <a:r>
              <a:t>같은 연결 구조에서 RIP·OSPF·EIGRP가 학습한 경로를 비교하는 기반으로 사용했다.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RIP 라우팅 테이블과 경로 변화를 비교했다. 같은 목적지에 대한 다음 홉과 메트릭을 확인했다.</a:t>
            </a:r>
          </a:p>
          <a:p>
            <a:r>
              <a:t>RIP의 경로 표기는 R이다. 연결 상태와 홉 수 변화가 설치 경로에 미치는 영향을 관찰한다.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CLI의 설정 모드, network 명령, 프로토콜 설정 과정을 기록했다. 오류 메시지가 있는 입력도 함께 남아 있다.</a:t>
            </a:r>
          </a:p>
          <a:p>
            <a:r>
              <a:t>입력 기록과 적용 결과를 구분한다. show running-config와 show ip protocols로 최종 설정을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OSPF 학습 경로와 이웃 상태를 확인했다. 이웃 목록의 FULL 표시는 인접 관계 형성을 보여 준다.</a:t>
            </a:r>
          </a:p>
          <a:p>
            <a:r>
              <a:t>라우팅 테이블의 목적지·다음 홉과 이웃의 Router ID·인터페이스를 대조한다.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OSPF 데이터베이스와 Router ID를 조회했다. 라우팅 테이블과 링크 상태 정보를 연결해 읽었다.</a:t>
            </a:r>
          </a:p>
          <a:p>
            <a:r>
              <a:t>Router ID는 OSPF 라우터 식별자다. 데이터베이스의 광고 라우터와 실제 이웃을 비교한다.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Router ID 변경 과정과 인접 관계, ping·traceroute 시험 기록을 확인했다.</a:t>
            </a:r>
          </a:p>
          <a:p>
            <a:r>
              <a:t>변경 후 이웃 상태와 도달성을 다시 확인한다. traceroute는 시험 당시 응답한 경유 홉을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AS 1234에서 EIGRP를 설정했다. R4의 172.16.2.0/24 항목은 두 successor 경로를 보여 준다.</a:t>
            </a:r>
          </a:p>
          <a:p>
            <a:r>
              <a:t>화면의 FD는 2809856이다. P(Passive)는 해당 경로가 안정 상태임을 나타내며, 라우팅 비활성화를 뜻하지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OSPF 인터페이스와 비용 관련 설정, 제어 패킷 캡처를 비교했다.</a:t>
            </a:r>
          </a:p>
          <a:p>
            <a:r>
              <a:t>경로 선택은 OSPF 비용을 기준으로 해석한다. 패킷 필드와 장비 설정을 함께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Area 10과 Area 20을 Backbone Area 0에 연결한 9대 라우터 토폴로지를 구성했다.</a:t>
            </a:r>
          </a:p>
          <a:p>
            <a:r>
              <a:t>영역 경계 라우터의 인터페이스별 area를 대조한다. 구성도만으로 영역 간 통신 성공을 판단하지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OSPF 영역에 RIP 구간을 연결하는 재분배 토폴로지를 기록했다.</a:t>
            </a:r>
          </a:p>
          <a:p>
            <a:r>
              <a:t>노션의 subents 오타와 OSPF 프로세스 번호 불일치는 수정 대상이다. 외부 경로와 반환 경로를 추가 검증한다.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GNS3 라우터와 Cloud/VMnet 연결 구조, LAN 및 직렬 링크 주소를 정리했다.</a:t>
            </a:r>
          </a:p>
          <a:p>
            <a:r>
              <a:t>VMnet의 실제 서브넷과 다음 홉을 맞춘 뒤 외부 도달성을 확인한다. 그림의 주소를 다른 실습 대역과 혼합하지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https://app.notion.com/p/GNS3-3c867822c2778014a058c3b6f37ef26c</a:t>
            </a:r>
          </a:p>
          <a:p>
            <a:r>
              <a:t>Area 0에 NSSA Area 10을 연결하고 RIP 구간을 재분배하는 토폴로지를 기록했다.</a:t>
            </a:r>
          </a:p>
          <a:p>
            <a:r>
              <a:t>area 10 nssa no-summary와 재분배 설정의 목적을 정리했다. NSSA LSA와 기본 경로 전파 결과는 별도 검증 항목이다.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544b3c6c216d43c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159f315955a34b4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c34da8a06fa244d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b13270010b34a5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e8bf574ebb6641c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9a032613875b46cf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963c747c0a2442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36d5b90c49814684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cb829d6a9667449a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92e73c513dfb4b8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306cd0e204ff44e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DEA83B-B463-431B-8E6D-43DD9BEC209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D0A59F-7868-4740-8A7D-2B4C73D61C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8D45E2-14D1-4ED2-A86E-9204D24DE3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8F7C5B-258A-4E99-A0F0-356E100342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4DFEBF-3D24-4ED6-BA60-699A624E0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FBBEFE-E604-413E-A480-462516E18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E28E00-B7F5-4D73-8B86-A60EA3C3FD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1DA91A-65CF-46CB-A3B3-0F3F6A8AFA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740F31-E2FE-4129-B3FE-B100246F3B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0EABA5-FE8A-4974-8460-84912C1357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CC6063-C15E-4950-8BBC-C5D1E2BC7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9B45D9-19C4-4FD0-8F6A-E3F522F4D3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551F45-4AC7-4321-A4DA-6EE6142889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8D7373-4CC9-4503-9ACE-E76183104F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01D7A3-6D72-4809-AECC-3258BAC47F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4FEC81-AD03-4E76-A8B6-C6138263FD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BD6BEA-E050-4EC4-B19E-C3084612A6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769E91-E21F-4BCC-8132-26E5B06660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04ED105-42AB-4690-9772-0FCF5ED3D7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214C37-0B40-4249-9D35-58130E9007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E2C9F2E-1EE5-4465-83C7-CB03FC8573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2E306A-C092-4F69-9E0E-B25B67182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6E8D1D-41DD-4052-8D55-71D4E5F23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63769A-31E9-4287-84CE-8D9793A19B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AE8C88C-CF98-4376-A5BA-71B7CD8C10A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6BFCDBE-D93A-41E7-8E65-189E8213C7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CA778A9-B0BD-452E-BD25-436EE5DDE7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7155D8-C83C-4860-9774-CF7E8FFF50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89F5517-EB01-403B-BF3F-DFD5105EA8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413D96-AE79-44F5-BDE8-FE6498417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D1C6D90-CA9A-4077-96DB-EFC2B86C7C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6598904-023C-4CA9-A182-2AE0CA97C5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C92B29-AC7F-46B4-9958-CCBD091479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2936904-0E8E-4D78-A2D8-1618D4AAC7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D7BE672-A3D0-40E7-A842-CC42F922A0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0B89BA9-2D87-468C-BBB4-7E7A5E9BE6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116C46-DBD3-42B9-9A52-FBAFFD5B2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1B0429-E931-44E1-AFF4-2FB7CEA424E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91270A3-B34E-49B0-B21D-A2D713D8E6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F145490-EB0D-43D4-8338-F55191D9DD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92AEC0-C849-4452-A769-A555E404FF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7D4309-F78D-44DB-B8C7-C8B195161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434489-3053-4387-8B7F-A2B677A77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99F3A71-5CE0-42A5-8F96-C5DF5349153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BEF871-BDEB-4B34-9129-5DDC79DCD0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763B0EB-C4F1-4631-9FEA-A848C50E6E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3CCC890-84FA-4F7E-BFF2-A8B45D9DB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E4765A-EF75-46D5-AEAA-0707D5C2A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FB9545-4546-46E3-89D5-C7914E823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0158D0-4239-4CC6-8822-B2E0A742A8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975844-7575-41DA-BEF9-10F264A48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191C2A-42AB-4601-97A7-3D56239D4A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E73E7F-721C-4B09-8BDC-F7C56239FC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3E19DC9-2206-4E69-A874-77E749469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C4301C-4BBB-4BAF-9A34-5580936BD5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5F3ED1-02A6-4985-A520-CF2411AF34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6EF758-3AEB-4995-808C-C36B985011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F7EBD0-99C0-4481-8B11-F9FB61F5F3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8fc4f77e94545da" Type="http://schemas.openxmlformats.org/officeDocument/2006/relationships/slideLayout" Target="../slideLayouts/slideLayout3.xml"/><Relationship Id="R5c4ae487d1be4761" Type="http://schemas.openxmlformats.org/officeDocument/2006/relationships/slideLayout" Target="../slideLayouts/slideLayout4.xml"/><Relationship Id="R702e4a8e1b194600" Type="http://schemas.openxmlformats.org/officeDocument/2006/relationships/slideLayout" Target="../slideLayouts/slideLayout7.xml"/><Relationship Id="R9b885d7d98544fec" Type="http://schemas.openxmlformats.org/officeDocument/2006/relationships/slideLayout" Target="../slideLayouts/slideLayout10.xml"/><Relationship Id="R9d16b2bfe6674935" Type="http://schemas.openxmlformats.org/officeDocument/2006/relationships/slideLayout" Target="../slideLayouts/slideLayout8.xml"/><Relationship Id="Ra8086820cfb945aa" Type="http://schemas.openxmlformats.org/officeDocument/2006/relationships/slideLayout" Target="../slideLayouts/slideLayout11.xml"/><Relationship Id="Rb316b3054fbb4ad5" Type="http://schemas.openxmlformats.org/officeDocument/2006/relationships/slideLayout" Target="../slideLayouts/slideLayout2.xml"/><Relationship Id="Rc00719e12a6c4dd1" Type="http://schemas.openxmlformats.org/officeDocument/2006/relationships/theme" Target="theme/theme2.xml"/><Relationship Id="Rc5f3c8c1daed4c4a" Type="http://schemas.openxmlformats.org/officeDocument/2006/relationships/slideLayout" Target="../slideLayouts/slideLayout6.xml"/><Relationship Id="Rd1adf8a4a24440ec" Type="http://schemas.openxmlformats.org/officeDocument/2006/relationships/slideLayout" Target="../slideLayouts/slideLayout5.xml"/><Relationship Id="Re74fe721e8094144" Type="http://schemas.openxmlformats.org/officeDocument/2006/relationships/slideLayout" Target="../slideLayouts/slideLayout9.xml"/><Relationship Id="Rf83be54582be473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5FDF8B6-501D-4A5D-B5BF-490897F826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315041-C7F3-43DC-9C72-5ABD85FF6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D1462A-57AD-4F2B-9E16-82E80448CB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68BF1A-FC0D-4EC8-BEC3-DA9EC601E7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CA438E-3002-4841-88BE-E2513BFCDCC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3be54582be473d"/>
    <p:sldLayoutId xmlns:r="http://schemas.openxmlformats.org/officeDocument/2006/relationships" id="2147483650" r:id="Rb316b3054fbb4ad5"/>
    <p:sldLayoutId xmlns:r="http://schemas.openxmlformats.org/officeDocument/2006/relationships" id="2147483651" r:id="R38fc4f77e94545da"/>
    <p:sldLayoutId xmlns:r="http://schemas.openxmlformats.org/officeDocument/2006/relationships" id="2147483652" r:id="R5c4ae487d1be4761"/>
    <p:sldLayoutId xmlns:r="http://schemas.openxmlformats.org/officeDocument/2006/relationships" id="2147483653" r:id="Rd1adf8a4a24440ec"/>
    <p:sldLayoutId xmlns:r="http://schemas.openxmlformats.org/officeDocument/2006/relationships" id="2147483654" r:id="Rc5f3c8c1daed4c4a"/>
    <p:sldLayoutId xmlns:r="http://schemas.openxmlformats.org/officeDocument/2006/relationships" id="2147483655" r:id="R702e4a8e1b194600"/>
    <p:sldLayoutId xmlns:r="http://schemas.openxmlformats.org/officeDocument/2006/relationships" id="2147483656" r:id="R9d16b2bfe6674935"/>
    <p:sldLayoutId xmlns:r="http://schemas.openxmlformats.org/officeDocument/2006/relationships" id="2147483657" r:id="Re74fe721e8094144"/>
    <p:sldLayoutId xmlns:r="http://schemas.openxmlformats.org/officeDocument/2006/relationships" id="2147483658" r:id="R9b885d7d98544fec"/>
    <p:sldLayoutId xmlns:r="http://schemas.openxmlformats.org/officeDocument/2006/relationships" id="2147483659" r:id="Ra8086820cfb945a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fbf0235de934d20" Type="http://schemas.openxmlformats.org/officeDocument/2006/relationships/slideLayout" Target="../slideLayouts/slideLayout7.xml"/><Relationship Id="R9e4cba394dcd48cf" Type="http://schemas.openxmlformats.org/officeDocument/2006/relationships/notesSlide" Target="../notesSlides/notesSlide1.xml"/><Relationship Id="rId3" Type="http://schemas.openxmlformats.org/officeDocument/2006/relationships/image" Target="../media/image40.png"/></Relationships>
</file>

<file path=ppt/slides/_rels/slide2.xml.rels><?xml version='1.0' encoding='UTF-8' standalone='yes'?>
<Relationships xmlns="http://schemas.openxmlformats.org/package/2006/relationships"><Relationship Id="R342e2d796f0a43e5" Type="http://schemas.openxmlformats.org/officeDocument/2006/relationships/slideLayout" Target="../slideLayouts/slideLayout7.xml"/><Relationship Id="R8b4a75b26d1e4de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c3a47d5550c4a03" Type="http://schemas.openxmlformats.org/officeDocument/2006/relationships/notesSlide" Target="../notesSlides/notesSlide3.xml"/><Relationship Id="R916c783e65d34c18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3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7.xml"/></Relationships>
</file>

<file path=ppt/slides/_rels/slide18.xml.rels><?xml version='1.0' encoding='UTF-8' standalone='yes'?>
<Relationships xmlns="http://schemas.openxmlformats.org/package/2006/relationships"><Relationship Id="R4989a227043b447a" Type="http://schemas.openxmlformats.org/officeDocument/2006/relationships/notesSlide" Target="../notesSlides/notesSlide4.xml"/><Relationship Id="Raeccfea829274ec3" Type="http://schemas.openxmlformats.org/officeDocument/2006/relationships/slideLayout" Target="../slideLayouts/slideLayout7.xml"/><Relationship Id="Rd02e50612a494b09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8cfe773f68974661" Type="http://schemas.openxmlformats.org/officeDocument/2006/relationships/image" Target="../media/image2.jpeg"/><Relationship Id="Rb7c1c95786fd4e4f" Type="http://schemas.openxmlformats.org/officeDocument/2006/relationships/notesSlide" Target="../notesSlides/notesSlide5.xml"/><Relationship Id="Rb83bfe2169ca48d6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2c84288096804da9" Type="http://schemas.openxmlformats.org/officeDocument/2006/relationships/notesSlide" Target="../notesSlides/notesSlide6.xml"/><Relationship Id="R563113a23ea04fda" Type="http://schemas.openxmlformats.org/officeDocument/2006/relationships/image" Target="../media/image3.jpeg"/><Relationship Id="R60965c68a1a1442c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371169f45f9b4bd9" Type="http://schemas.openxmlformats.org/officeDocument/2006/relationships/slideLayout" Target="../slideLayouts/slideLayout7.xml"/><Relationship Id="R7ab5f1a083c7413c" Type="http://schemas.openxmlformats.org/officeDocument/2006/relationships/notesSlide" Target="../notesSlides/notesSlide7.xml"/><Relationship Id="Rbfd14ec24ad84891" Type="http://schemas.openxmlformats.org/officeDocument/2006/relationships/image" Target="../media/image4.jpeg"/></Relationships>
</file>

<file path=ppt/slides/_rels/slide22.xml.rels><?xml version='1.0' encoding='UTF-8' standalone='yes'?>
<Relationships xmlns="http://schemas.openxmlformats.org/package/2006/relationships"><Relationship Id="R167ccd29a75546a5" Type="http://schemas.openxmlformats.org/officeDocument/2006/relationships/image" Target="../media/image5.jpeg"/><Relationship Id="R42a765d6bf9e459d" Type="http://schemas.openxmlformats.org/officeDocument/2006/relationships/slideLayout" Target="../slideLayouts/slideLayout7.xml"/><Relationship Id="R580de7ec184b4449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5abdc2ea7a344e01" Type="http://schemas.openxmlformats.org/officeDocument/2006/relationships/image" Target="../media/image6.jpeg"/><Relationship Id="R5d31bb424eaa48a7" Type="http://schemas.openxmlformats.org/officeDocument/2006/relationships/slideLayout" Target="../slideLayouts/slideLayout7.xml"/><Relationship Id="Rd0739aa992f0427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8ee9dfb57b6d4c78" Type="http://schemas.openxmlformats.org/officeDocument/2006/relationships/image" Target="../media/image7.jpeg"/><Relationship Id="Rb79ed7251e334174" Type="http://schemas.openxmlformats.org/officeDocument/2006/relationships/slideLayout" Target="../slideLayouts/slideLayout7.xml"/><Relationship Id="Re3db689134f14ef6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2f375838a6254287" Type="http://schemas.openxmlformats.org/officeDocument/2006/relationships/slideLayout" Target="../slideLayouts/slideLayout7.xml"/><Relationship Id="R64e1152033f14d9a" Type="http://schemas.openxmlformats.org/officeDocument/2006/relationships/image" Target="../media/image8.jpeg"/><Relationship Id="R85622daeb6194ab0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0d1a4becd25748a3" Type="http://schemas.openxmlformats.org/officeDocument/2006/relationships/image" Target="../media/image9.jpeg"/><Relationship Id="R5be2f46471e54c7f" Type="http://schemas.openxmlformats.org/officeDocument/2006/relationships/slideLayout" Target="../slideLayouts/slideLayout7.xml"/><Relationship Id="Rc6300347e872413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1c4a80bae6984f77" Type="http://schemas.openxmlformats.org/officeDocument/2006/relationships/notesSlide" Target="../notesSlides/notesSlide13.xml"/><Relationship Id="R948d113756934d5b" Type="http://schemas.openxmlformats.org/officeDocument/2006/relationships/slideLayout" Target="../slideLayouts/slideLayout7.xml"/><Relationship Id="Rb81ad4c6435b4d9e" Type="http://schemas.openxmlformats.org/officeDocument/2006/relationships/image" Target="../media/image10.jpeg"/></Relationships>
</file>

<file path=ppt/slides/_rels/slide28.xml.rels><?xml version='1.0' encoding='UTF-8' standalone='yes'?>
<Relationships xmlns="http://schemas.openxmlformats.org/package/2006/relationships"><Relationship Id="R09da95f7e7eb407f" Type="http://schemas.openxmlformats.org/officeDocument/2006/relationships/notesSlide" Target="../notesSlides/notesSlide14.xml"/><Relationship Id="R457adb57208f4fe3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395b473b51fb409b" Type="http://schemas.openxmlformats.org/officeDocument/2006/relationships/notesSlide" Target="../notesSlides/notesSlide15.xml"/><Relationship Id="Rcd4131b1c1664dbe" Type="http://schemas.openxmlformats.org/officeDocument/2006/relationships/image" Target="../media/image11.jpeg"/><Relationship Id="Re8c0db4c79f14a9b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200e767017204caa" Type="http://schemas.openxmlformats.org/officeDocument/2006/relationships/image" Target="../media/image12.jpeg"/><Relationship Id="Re2a8fbc3269140c7" Type="http://schemas.openxmlformats.org/officeDocument/2006/relationships/notesSlide" Target="../notesSlides/notesSlide16.xml"/><Relationship Id="Refdea09bb1ce47ae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24baf98238fb4278" Type="http://schemas.openxmlformats.org/officeDocument/2006/relationships/image" Target="../media/image13.jpeg"/><Relationship Id="R558762f9f8a040b9" Type="http://schemas.openxmlformats.org/officeDocument/2006/relationships/slideLayout" Target="../slideLayouts/slideLayout7.xml"/><Relationship Id="Rfa6b2b6ed34e4f5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17592e3b7cda4446" Type="http://schemas.openxmlformats.org/officeDocument/2006/relationships/slideLayout" Target="../slideLayouts/slideLayout7.xml"/><Relationship Id="R180df383bf4843e1" Type="http://schemas.openxmlformats.org/officeDocument/2006/relationships/image" Target="../media/image14.jpeg"/><Relationship Id="R97e1bbd0450e47d5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15265d00164f4763" Type="http://schemas.openxmlformats.org/officeDocument/2006/relationships/slideLayout" Target="../slideLayouts/slideLayout7.xml"/><Relationship Id="R4de12a5bd7694d33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93527b18fac64fb2" Type="http://schemas.openxmlformats.org/officeDocument/2006/relationships/notesSlide" Target="../notesSlides/notesSlide20.xml"/><Relationship Id="R9d8f7f61c4de43f7" Type="http://schemas.openxmlformats.org/officeDocument/2006/relationships/slideLayout" Target="../slideLayouts/slideLayout1.xml"/><Relationship Id="Re37893d18b1c4025" Type="http://schemas.openxmlformats.org/officeDocument/2006/relationships/image" Target="../media/image15.jpeg"/></Relationships>
</file>

<file path=ppt/slides/_rels/slide35.xml.rels><?xml version='1.0' encoding='UTF-8' standalone='yes'?>
<Relationships xmlns="http://schemas.openxmlformats.org/package/2006/relationships"><Relationship Id="R7ba38735170a42b0" Type="http://schemas.openxmlformats.org/officeDocument/2006/relationships/image" Target="../media/image16.jpeg"/><Relationship Id="Raa43bb87cf6f43d4" Type="http://schemas.openxmlformats.org/officeDocument/2006/relationships/slideLayout" Target="../slideLayouts/slideLayout1.xml"/><Relationship Id="Re26291aee17e4f0e" Type="http://schemas.openxmlformats.org/officeDocument/2006/relationships/image" Target="../media/image17.jpeg"/><Relationship Id="Rf295b9ec2847483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1a58e4ad978841cf" Type="http://schemas.openxmlformats.org/officeDocument/2006/relationships/notesSlide" Target="../notesSlides/notesSlide22.xml"/><Relationship Id="Ra72483dd6cd5499a" Type="http://schemas.openxmlformats.org/officeDocument/2006/relationships/slideLayout" Target="../slideLayouts/slideLayout1.xml"/><Relationship Id="Rb71cff601f5a4695" Type="http://schemas.openxmlformats.org/officeDocument/2006/relationships/image" Target="../media/image18.jpeg"/></Relationships>
</file>

<file path=ppt/slides/_rels/slide37.xml.rels><?xml version='1.0' encoding='UTF-8' standalone='yes'?>
<Relationships xmlns="http://schemas.openxmlformats.org/package/2006/relationships"><Relationship Id="Rb8330c6a9cc04bb9" Type="http://schemas.openxmlformats.org/officeDocument/2006/relationships/notesSlide" Target="../notesSlides/notesSlide23.xml"/><Relationship Id="Rf7b0659834ca490b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notesSlide" Target="../notesSlides/notesSlide53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Picture 1" descr="cover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 xmlns:a="http://schemas.openxmlformats.org/drawingml/2006/main">
        <p:nvSpPr>
          <p:cNvPr id="2" name="TextBox 1"/>
          <p:cNvSpPr txBox="1"/>
          <p:nvPr/>
        </p:nvSpPr>
        <p:spPr>
          <a:xfrm>
            <a:off x="777240" y="594360"/>
            <a:ext cx="100584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2579F"/>
                </a:solidFill>
                <a:latin typeface="맑은 고딕"/>
              </a:rPr>
              <a:t>SECURITY PORTFOLIO   /   2026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758952" y="1828800"/>
            <a:ext cx="10607040" cy="10972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3600" b="1">
                <a:solidFill>
                  <a:srgbClr val="22579F"/>
                </a:solidFill>
                <a:latin typeface="맑은 고딕"/>
              </a:rPr>
              <a:t>네트워크 보안 포트폴리오</a:t>
            </a:r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777240" y="2907792"/>
            <a:ext cx="105156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rPr>
                <a:solidFill>
                  <a:srgbClr val="1B3146"/>
                </a:solidFill>
                <a:latin typeface="맑은 고딕"/>
              </a:rPr>
              <a:t>GNS3  ·  Wireshark  ·  pfSense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777240" y="5138928"/>
            <a:ext cx="9144000" cy="42062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B3146"/>
                </a:solidFill>
                <a:latin typeface="맑은 고딕"/>
              </a:rPr>
              <a:t>김소윤   |   정보보호학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777240" y="5687568"/>
            <a:ext cx="9144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B3146"/>
                </a:solidFill>
                <a:latin typeface="맑은 고딕"/>
              </a:rPr>
              <a:t>네트워크 구성과 통신 검증 · 방화벽 및 IPS 실습</a:t>
            </a:r>
          </a:p>
        </p:txBody>
      </p:sp>
    </p:spTree>
    <p:extLst>
      <p:ext uri="{BB962C8B-B14F-4D97-AF65-F5344CB8AC3E}">
        <p14:creationId xmlns:p14="http://schemas.microsoft.com/office/powerpoint/2010/main" val="736937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ounded Rectangle 10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" name="TextBox 1"/>
          <p:cNvSpPr txBox="1"/>
          <p:nvPr/>
        </p:nvSpPr>
        <p:spPr>
          <a:xfrm>
            <a:off x="731520" y="457200"/>
            <a:ext cx="1078992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3100" b="1">
                <a:solidFill>
                  <a:srgbClr val="235397"/>
                </a:solidFill>
                <a:latin typeface="맑은 고딕"/>
              </a:rPr>
              <a:t>목차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822960" y="15544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2F6CAD"/>
                </a:solidFill>
                <a:latin typeface="Noto Sans CJK KR"/>
              </a:rPr>
              <a:t>01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1554480" y="1554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73858"/>
                </a:solidFill>
                <a:latin typeface="Noto Sans CJK KR"/>
              </a:rPr>
              <a:t>실습 범위와 GNS3 기초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1554480" y="2084831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5758A"/>
                </a:solidFill>
                <a:latin typeface="Noto Sans CJK KR"/>
              </a:rPr>
              <a:t>주소 구성 · 정적 경로 · 패킷 관찰</a:t>
            </a:r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822960" y="2971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2F6CAD"/>
                </a:solidFill>
                <a:latin typeface="Noto Sans CJK KR"/>
              </a:rPr>
              <a:t>02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1554480" y="2971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73858"/>
                </a:solidFill>
                <a:latin typeface="Noto Sans CJK KR"/>
              </a:rPr>
              <a:t>ARP와 주소 매핑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1554480" y="350215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5758A"/>
                </a:solidFill>
                <a:latin typeface="Noto Sans CJK KR"/>
              </a:rPr>
              <a:t>캐시 학습 · 요청/응답 · 보안 실습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822960" y="43891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2F6CAD"/>
                </a:solidFill>
                <a:latin typeface="Noto Sans CJK KR"/>
              </a:rPr>
              <a:t>03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1554480" y="4389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73858"/>
                </a:solidFill>
                <a:latin typeface="Noto Sans CJK KR"/>
              </a:rPr>
              <a:t>라우팅 심화 실습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1554480" y="491947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5758A"/>
                </a:solidFill>
                <a:latin typeface="Noto Sans CJK KR"/>
              </a:rPr>
              <a:t>PPP · NAT/PAT · RIP · OSPF · EIGRP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6355080" y="15544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2F6CAD"/>
                </a:solidFill>
                <a:latin typeface="Noto Sans CJK KR"/>
              </a:rPr>
              <a:t>04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7086600" y="1554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73858"/>
                </a:solidFill>
                <a:latin typeface="Noto Sans CJK KR"/>
              </a:rPr>
              <a:t>스캔과 통신 분석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7086600" y="2084831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5758A"/>
                </a:solidFill>
                <a:latin typeface="Noto Sans CJK KR"/>
              </a:rPr>
              <a:t>포트 스캔 · ARP 변화 · DNS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355080" y="2971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2F6CAD"/>
                </a:solidFill>
                <a:latin typeface="Noto Sans CJK KR"/>
              </a:rPr>
              <a:t>05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7086600" y="2971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73858"/>
                </a:solidFill>
                <a:latin typeface="Noto Sans CJK KR"/>
              </a:rPr>
              <a:t>pfSense 접근 제어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7086600" y="350215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5758A"/>
                </a:solidFill>
                <a:latin typeface="Noto Sans CJK KR"/>
              </a:rPr>
              <a:t>인터페이스 · 별칭 · 규칙 · 스케줄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6355080" y="43891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2F6CAD"/>
                </a:solidFill>
                <a:latin typeface="Noto Sans CJK KR"/>
              </a:rPr>
              <a:t>06</a:t>
            </a:r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7086600" y="4389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73858"/>
                </a:solidFill>
                <a:latin typeface="Noto Sans CJK KR"/>
              </a:rPr>
              <a:t>Suricata와 검증 결과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7086600" y="491947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5758A"/>
                </a:solidFill>
                <a:latin typeface="Noto Sans CJK KR"/>
              </a:rPr>
              <a:t>사용자 규칙 · ICMP 차단 · 결과 해석</a:t>
            </a:r>
          </a:p>
        </p:txBody>
      </p:sp>
    </p:spTree>
    <p:extLst>
      <p:ext uri="{BB962C8B-B14F-4D97-AF65-F5344CB8AC3E}">
        <p14:creationId xmlns:p14="http://schemas.microsoft.com/office/powerpoint/2010/main" val="894376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87C054-31A3-4E9A-8574-2024F25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903C3B-A675-40DE-B0AD-371E7319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ABF2B8A-9C79-4FEC-8F08-AC340125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실습 범위와 판단 기준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B24135-1979-439E-A3A3-3233B6CC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989D33-C784-4E92-879A-562029E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209274-B185-4D2B-BF74-D2F36216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2CC0C1-91D8-4307-BB4A-D5F8B30F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19656"/>
            <a:ext cx="10607040" cy="402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GNS3 / SKT ALEPH: 주소 계획, 정적 라우팅, ARP·ICMP, RIP 경로 학습
Wireshark: DNS·SSH 및 스캔 응답 패킷 관찰
Packet Tracer / Kali Linux: 주소 할당, 원격 접속, IPv6 로컬 통신
화면에 나타난 결과와 설정 기록을 구분해 정리했다.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E9186D9-B395-412E-8478-2A199BE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실습 화면은 서로 다른 시점·환경의 기록이다. 각 화면이 직접 입증하는 범위만 설명한다.</a:t>
            </a:r>
          </a:p>
        </p:txBody>
      </p:sp>
    </p:spTree>
    <p:extLst>
      <p:ext uri="{BB962C8B-B14F-4D97-AF65-F5344CB8AC3E}">
        <p14:creationId xmlns:p14="http://schemas.microsoft.com/office/powerpoint/2010/main" val="2047459272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GNS3 실습 환경과 콘솔 접속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라우터 2대·스위치 2대·VPCS 2대를 연결했다. Tera Term은 127.0.0.1:5000의 Telnet 콘솔에 연결하도록 설정했다.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로컬 콘솔 접속 설정 화면이다. 원격 운영망의 Telnet 서비스 노출을 입증하는 자료는 아니다.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5, 6</a:t>
            </a:r>
          </a:p>
        </p:txBody>
      </p:sp>
      <p:pic>
        <p:nvPicPr>
          <p:cNvPr id="14" name="Picture 13" descr="image 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84" y="1673352"/>
            <a:ext cx="2378735" cy="1897380"/>
          </a:xfrm>
          <a:prstGeom prst="rect">
            <a:avLst/>
          </a:prstGeom>
        </p:spPr>
      </p:pic>
      <p:pic>
        <p:nvPicPr>
          <p:cNvPr id="15" name="Picture 14" descr="image (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24" y="3639312"/>
            <a:ext cx="322285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주소 계획과 연결 경로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초기 LAN은 172.16.1.0/24·172.16.2.0/24이다. 이후 LAN을 192.168.1.0/24·192.168.2.0/24로 바꾼 구성이 보인다.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라우터 사이 링크는 192.168.12.0/24이다. 서로 다른 단계의 주소 계획을 하나의 설정으로 혼합하지 않았다.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7, 9</a:t>
            </a:r>
          </a:p>
        </p:txBody>
      </p:sp>
      <p:pic>
        <p:nvPicPr>
          <p:cNvPr id="14" name="Picture 13" descr="image 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742" y="1673352"/>
            <a:ext cx="3167019" cy="1897380"/>
          </a:xfrm>
          <a:prstGeom prst="rect">
            <a:avLst/>
          </a:prstGeom>
        </p:spPr>
      </p:pic>
      <p:pic>
        <p:nvPicPr>
          <p:cNvPr id="15" name="Picture 14" descr="image (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080" y="3639312"/>
            <a:ext cx="3380342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직접 연결 경로와 정적 라우팅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show ip route 화면에 C(직접 연결) 경로와 “Gateway of last resort is not set”이 보인다.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노션에는 상대 LAN으로 향하는 ip route 명령이 기록돼 있다. 이 초기 화면은 정적 경로 적용 이후의 결과가 아니다.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8</a:t>
            </a:r>
          </a:p>
        </p:txBody>
      </p:sp>
      <p:pic>
        <p:nvPicPr>
          <p:cNvPr id="14" name="Picture 13" descr="image 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01" y="1673352"/>
            <a:ext cx="3661901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ARP 요청과 응답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192.168.1.254가 192.168.1.1을 찾는 ARP 요청을 브로드캐스트로 보냈다. 응답은 요청 호스트의 MAC으로 돌아왔다.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응답에서 192.168.1.1의 MAC ca:01:39:60:00:00을 확인했다. 캡처의 .254는 앞선 VPCS .2 설정과 다른 시험 호스트다.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10, 11</a:t>
            </a:r>
          </a:p>
        </p:txBody>
      </p:sp>
      <p:pic>
        <p:nvPicPr>
          <p:cNvPr id="14" name="Picture 13" descr="image (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116" y="1673352"/>
            <a:ext cx="4504270" cy="1897380"/>
          </a:xfrm>
          <a:prstGeom prst="rect">
            <a:avLst/>
          </a:prstGeom>
        </p:spPr>
      </p:pic>
      <p:pic>
        <p:nvPicPr>
          <p:cNvPr id="15" name="Picture 14" descr="image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989" y="3639312"/>
            <a:ext cx="413652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ICMP 왕복 통신과 링크 계층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LAN 캡처에서 ICMP Echo 요청·응답을 관찰했다. 시리얼 구간의 패킷은 Cisco HDLC·IPv4·ICMP로 표시됐다.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이 시리얼 캡처에는 Ethernet MAC 필드가 없다. 모든 WAN에서 MAC 주소가 없다는 의미로 일반화하지 않는다.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12, 13, 14</a:t>
            </a:r>
          </a:p>
        </p:txBody>
      </p:sp>
      <p:pic>
        <p:nvPicPr>
          <p:cNvPr id="14" name="Picture 13" descr="image (1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29" y="1673352"/>
            <a:ext cx="2703645" cy="1264920"/>
          </a:xfrm>
          <a:prstGeom prst="rect">
            <a:avLst/>
          </a:prstGeom>
        </p:spPr>
      </p:pic>
      <p:pic>
        <p:nvPicPr>
          <p:cNvPr id="15" name="Picture 14" descr="image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360" y="2983992"/>
            <a:ext cx="2857782" cy="1264920"/>
          </a:xfrm>
          <a:prstGeom prst="rect">
            <a:avLst/>
          </a:prstGeom>
        </p:spPr>
      </p:pic>
      <p:pic>
        <p:nvPicPr>
          <p:cNvPr id="16" name="Picture 15" descr="image (14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351" y="4294632"/>
            <a:ext cx="4881800" cy="126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3대 라우터와 RIP v2 구성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R1–R2–R3를 192.168.12.0/24와 192.168.23.0/24로 연결했다. 노션에는 RIP v2와 no auto-summary 설정을 기록했다.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Loopback을 이용해 R1·R3의 여러 172.16.x.0/24 경로를 모의했다. OSPF·EIGRP·IS-IS는 언급만 있으며 실행 결과는 없다.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15</a:t>
            </a:r>
          </a:p>
        </p:txBody>
      </p:sp>
      <p:pic>
        <p:nvPicPr>
          <p:cNvPr id="14" name="Picture 13" descr="image (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48749"/>
            <a:ext cx="7086600" cy="3243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RIP 경로와 홉 수 확인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R2는 172.16.5.0/24~8.0/24를 [120/1]로, R1은 같은 경로를 [120/2]로 학습했다.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 표기는 RIP 경로다. 대괄호의 120은 관리 거리, 뒤의 1·2는 RIP 메트릭(홉 수)이다.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16, 17</a:t>
            </a:r>
          </a:p>
        </p:txBody>
      </p:sp>
      <p:pic>
        <p:nvPicPr>
          <p:cNvPr id="14" name="Picture 13" descr="image (1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06" y="1673352"/>
            <a:ext cx="3345290" cy="1897380"/>
          </a:xfrm>
          <a:prstGeom prst="rect">
            <a:avLst/>
          </a:prstGeom>
        </p:spPr>
      </p:pic>
      <p:pic>
        <p:nvPicPr>
          <p:cNvPr id="15" name="Picture 14" descr="image (1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687" y="3639312"/>
            <a:ext cx="3527129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자동 요약 경로와 통신 결과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R2에 172.16.0.0/16 경로가 두 다음 홉으로 표시된다. 화면의 172.16.1.1 ping은 5회 모두 응답했다.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동일한 요약 경로가 양쪽에서 들어오는 상태를 확인했다. 이 한 번의 성공만으로 모든 서브넷의 연결성을 판단할 수 없다.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18</a:t>
            </a:r>
          </a:p>
        </p:txBody>
      </p:sp>
      <p:pic>
        <p:nvPicPr>
          <p:cNvPr id="14" name="Picture 13" descr="image (1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74407"/>
            <a:ext cx="7086600" cy="33926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3대 라우터의 정적 경로 설계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GNS3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R1의 LAN 172.16.1.0/24와 R3의 LAN 172.16.3.0/24를 R2를 통해 연결하는 토폴로지다.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노션의 정적 경로는 다음 홉을 지정하는 구성 기록이다. 최종 PC 간 왕복 ping 화면은 이번 자료에 포함되지 않았다.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및 제공 캡처 19</a:t>
            </a:r>
          </a:p>
        </p:txBody>
      </p:sp>
      <p:pic>
        <p:nvPicPr>
          <p:cNvPr id="14" name="Picture 13" descr="image (1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01621"/>
            <a:ext cx="7086600" cy="33382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ARP 캐시와 기본 게이트웨이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ARP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Windows는 192.168.10.101/24, 게이트웨이는 192.168.10.2이다. arp -a에서 게이트웨이의 동적 MAC 항목을 확인했다.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MAC: 00:50:56:e4:bf:06. 브로드캐스트·멀티캐스트의 정적 표시와 사용자가 수동 지정한 정적 ARP는 구분한다.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ARP 실습 노션 및 새 캡처 5, 6</a:t>
            </a:r>
          </a:p>
        </p:txBody>
      </p:sp>
      <p:pic>
        <p:nvPicPr>
          <p:cNvPr id="14" name="Picture 13" descr="image (5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512" y="1691640"/>
            <a:ext cx="2623479" cy="1883664"/>
          </a:xfrm>
          <a:prstGeom prst="rect">
            <a:avLst/>
          </a:prstGeom>
        </p:spPr>
      </p:pic>
      <p:pic>
        <p:nvPicPr>
          <p:cNvPr id="15" name="Picture 14" descr="image (6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83" y="3657600"/>
            <a:ext cx="2686537" cy="1883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Kali 주소 확인과 캐시 학습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ARP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Kali eth0는 192.168.10.123/24, MAC은 00:0c:29:45:18:1a이다. Windows의 ping 1회가 응답했다.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이후 arp -a에 .123과 같은 MAC이 동적으로 표시됐다. 통신 성공과 주소 학습을 화면에서 함께 확인했다.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ARP 실습 노션 및 새 캡처 7, 8</a:t>
            </a:r>
          </a:p>
        </p:txBody>
      </p:sp>
      <p:pic>
        <p:nvPicPr>
          <p:cNvPr id="14" name="Picture 13" descr="image (7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95" y="1691640"/>
            <a:ext cx="3599312" cy="1883664"/>
          </a:xfrm>
          <a:prstGeom prst="rect">
            <a:avLst/>
          </a:prstGeom>
        </p:spPr>
      </p:pic>
      <p:pic>
        <p:nvPicPr>
          <p:cNvPr id="15" name="Picture 14" descr="image (8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319" y="3657600"/>
            <a:ext cx="2623864" cy="18836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ARP 요청 헤더 읽기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ARP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Opcode 1(request), 송신 IP 192.168.100.101, 대상 IP 192.168.100.2. 대상 MAC은 00:00:00:00:00:00이다.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ARP 본문의 미확인 대상 MAC과 Ethernet 프레임의 브로드캐스트 목적지 MAC을 구분한다. 이 캡처는 .100 대역이다.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ARP 실습 노션 및 새 캡처 9</a:t>
            </a:r>
          </a:p>
        </p:txBody>
      </p:sp>
      <p:pic>
        <p:nvPicPr>
          <p:cNvPr id="14" name="Picture 13" descr="image (9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96159"/>
            <a:ext cx="7086600" cy="25582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ARP 응답과 MAC 매핑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ARP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Opcode 2(reply), 송신 IP 192.168.100.2, 송신 MAC 00:50:56:e7:b3:5a. .100.101 호스트로 유니캐스트 응답했다.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응답은 IP–MAC 매핑을 알려 준다. 앞선 .10 대역의 MAC과 다르므로 한 시점의 동일 설정으로 혼합하지 않았다.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ARP 실습 노션 및 새 캡처 10</a:t>
            </a:r>
          </a:p>
        </p:txBody>
      </p:sp>
      <p:pic>
        <p:nvPicPr>
          <p:cNvPr id="14" name="Picture 13" descr="image (10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9579"/>
            <a:ext cx="7086600" cy="20114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정적 ARP와 보안 실습 기록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ARP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arp -s 도움말은 정적 항목 추가 기능을 설명한다. 실제 arp -a 화면의 192.168.10.2 항목은 여전히 동적이다.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노션에는 IP 포워딩·ARP 스푸핑·정적 ARP 대응 명령이 기록돼 있다. 이번 7장에는 공격이나 대응 적용 결과가 없다.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ARP 실습 노션 및 새 캡처 11</a:t>
            </a:r>
          </a:p>
        </p:txBody>
      </p:sp>
      <p:pic>
        <p:nvPicPr>
          <p:cNvPr id="14" name="Picture 13" descr="image (1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17" y="1691640"/>
            <a:ext cx="5241268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DNS 질의와 응답 추적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34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e50612a49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1776013"/>
            <a:ext cx="7086600" cy="3589436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www.naver.com A 질의와 응답의 트랜잭션 ID 0x0002가 일치한다.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클라이언트 192.168.45.209와 DNS 서버 219.250.36.130 사이의 요청·응답을 짝지어 확인했다.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094782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C91DFC-2D0A-4A73-A692-506F07C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C96561-3737-4042-94E2-BF2C3DB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B5294AD-04A3-44DB-95E2-F954BEEC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DNS 응답 레코드 해석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F9A9AA-8EF4-440F-AA2C-A18A8B6D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27BFF2-78DF-4A75-BF7E-9959D9BF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DE72A02-323E-403F-83F5-AC07B9B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35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e773f68974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1755252"/>
            <a:ext cx="7086600" cy="3630959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9AD21F9-49B9-4109-B719-7D58EB54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275734C-38D6-4D7D-B868-13312140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D2C3DD5-45C7-488B-A616-5418E883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CNAME: www.naver.com.nheos.com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A: 223.130.200.219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TTL: 59초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535377-F0EF-4AAD-92EA-8E348903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응답 시점의 레코드를 읽은 결과다. 주소가 영구히 같다는 뜻은 아니다.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33A5492-AF02-4CBB-95F7-9D41BB4D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289893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ED2910-570A-4215-B012-748DF184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7C8364-25CF-442A-A257-76A7F339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89490E-2685-4B7C-8CCC-EC64D6A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DHCP 서버 구성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E750B66-1FB7-4308-9A31-11E38E84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CEDF308-C694-447C-94D3-9579DB62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222897B-DEBA-4ED4-90F3-76DD67E3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36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113a23ea04f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419620"/>
            <a:ext cx="7086600" cy="2302222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992F579-C2ED-46F0-B01E-71292A5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F8AEF65-F506-41E7-8D44-A42B23FE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78B27E-C52E-4757-9300-6311E76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라우터에 LAN 풀 설정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192.168.10.0/24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게이트웨이 .1, DNS 8.8.8.8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9193B85-2AA2-4871-BBAD-6DBE85A3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라우터 자체가 DHCP 서버다. 이 화면은 DHCP Relay 실습 근거가 아니다.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6770CCB-6E2E-4733-BED0-C64E6E08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888491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62FCBA-6781-428E-816F-852C1D3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A62621-B153-42F6-BA2F-DE026D8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6D8572-0E71-4566-9C36-1440A7B8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DHCP 주소 할당 확인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7097564-1385-4D5C-B443-F5A53671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044A7DA-F482-402D-9656-BEE53084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9E6176C-B438-4ED9-9E81-EF706B33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37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14ec24ad848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525735"/>
            <a:ext cx="7086600" cy="2089993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C832AC-64E6-4061-BEBF-6E6460A8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A172474-EFA2-46D9-958C-92BCD8B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CCE8FFC-7507-42A6-98D5-5036CE6E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PC0: DHCP request successful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192.168.10.100/24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기본 게이트웨이 .1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07A63B-0937-4B15-AC0E-ABC6FE0B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서버의 .1~.99 제외 설정 이후 .100 할당을 화면에서 확인했다.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C234AA-8B72-4D93-91E5-7FBC2B0E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571722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9F2456-BEFD-4D7E-999E-017634E5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55F7638-5579-4045-8EBD-E7E4FDF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5DDBAD-48FB-4779-B2EE-C81C458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Telnet 원격 접속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4399A4-AF9F-41AB-9D95-CF91CFF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BA6DF6-4F79-4E61-9134-EDAC8A05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2BF0C2-6160-42F6-8F0E-702AD16E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38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ccd29a75546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1764479"/>
            <a:ext cx="7086600" cy="3612505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39DEE8A-5A29-44F4-9F67-67BE411C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01D449-3812-4D11-8FD6-B16728E0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F16166E-2E3E-4248-A6EA-20889E45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192.168.10.1로 Telnet 연결 후 R1&gt; 프롬프트 확인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0F77EF-2B7C-4F8A-8A08-DC18CFA7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접속 성공은 입증되지만 Telnet은 인증 정보와 세션 보호가 필요할 때 적합하지 않다.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279CA5-2139-4797-B603-2520B03B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6669710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17A8AAC-6C9E-4762-9418-17129B2B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BF6F3D-16DD-4CA5-A537-0E9FC547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471E24-95BB-4F7A-BFD8-4952A055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SSH 원격 접속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73E00BC-07FA-4CE4-8BD5-8E8F36DE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786A6F-7501-4A48-9F68-5E4D0AB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06BF24-FDCB-44D5-8619-FAFBE1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39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dc2ea7a344e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092050"/>
            <a:ext cx="7086600" cy="2957363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432B2F6-E387-4CC7-8386-6AD32282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C48B9C-FA59-4104-887E-61AFB321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258792-BDC4-4F73-AB5E-603B9F29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ssh -l admin 192.168.10.1 실행 후 R1&gt; 프롬프트 확인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CD2D06F-731E-4FCD-9737-DF556DC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Packet Tracer에서 SSH v2와 로컬 계정 인증을 설정한 실습 결과다.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32C30B7-705F-4BA4-8C83-AF1EBF33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5238838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DEEC10-1240-4F9B-B8E0-9C539252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FC2378-9CCC-4B57-B293-393E1F16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DFA254-36A2-46DB-81D3-FD018E4D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SSH 공개키 인증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9C85C5-2C0F-4717-BE2F-22B38E79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AD087C9-25B5-4EB2-974F-1C1FE036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9B752A9-2C4F-4AED-AA0E-EC61B7FA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40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9dfb57b6d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74961" y="1627632"/>
            <a:ext cx="5254580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BD2DB6B-AA08-42F3-8964-17CCB05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D49A900-4DA0-4840-8A95-6A93E962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B79263-1A14-40C5-BD57-74A32661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authorized_keys와 키 파일 확인 후 localhost SSH 접속 화면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2178E7-7227-4AF9-AD76-4298B49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앞선 키 생성·권한 설정 화면과 함께 볼 때 공개키 접속 흐름을 설명할 수 있다. 이 화면만으로 암호 로그인 비활성화는 주장하지 않는다.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71FFF1-F04F-48D7-A0ED-1770A426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2519883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63602C-971F-479B-8132-8AC11650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C0ED5C-905A-4BF1-B212-F8B1F93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15EE01C-5BF0-4073-8DD4-BBA1B45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SSH 암호화 트래픽 관찰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581D4C-F40B-4525-A8C0-5EAF8F39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E448B48-2800-4B9F-B5E1-91B23F2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1DD5DC-A189-45CA-84F9-798F71BE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41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1152033f14d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1642" y="1627632"/>
            <a:ext cx="6481219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F2B88C7-DB3D-4691-8BB6-F41FEC9C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DD94E5-05D0-41BB-8BE8-292CAB4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3612AE9-096C-4150-AD25-377D6D7B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루프백의 22/tcp 트래픽에서 SSH encrypted packet 확인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F5EB7A-8AB2-40D5-9008-3DCB71B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패킷 목록과 프로토콜 표기를 근거로 암호화된 SSH 세션을 관찰했다.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577CB7B-A92E-4806-8004-96AE8FC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382689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58F522-CC6A-498E-B7CF-A9405BD3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F2BBBE-2554-40CB-998E-FA189FDD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73AD6CE-B6B4-4E79-A251-E6693FBC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IPv6 주소와 로컬 통신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D5301F-7B93-4E76-801A-3C66A41A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DE0553-A677-4D31-BD4D-4DC4EF34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A5646-7EF3-450D-9982-F902B151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42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a4becd25748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8672" y="1627632"/>
            <a:ext cx="5287159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BF244A-B2EC-4CCB-9B78-D19296CD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A83D893-6938-4A13-995E-F089451A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9A8D7A-97EC-45D4-8491-89ADE7F1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::1 대상으로 ping6 10회 송신·10회 수신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B5EE58E-E833-4137-8D7A-FA75A138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eth0에는 fe80:: 링크 로컬 주소가 있다. 이 결과는 로컬 루프백 통신 확인이다.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52079FD-B357-4730-BEEB-68A8997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2491922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F762F06-1FA6-4A06-B6DA-67860A09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15E371-96E0-47BB-A0E3-1767AFE8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AD0DD1-9724-48E3-AB0E-3530563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IPv6로 SSH 접속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69B4296-7238-4740-852F-A827D699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2F4A41-8DFA-4C47-AA3E-07E1D2CB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61A3B4-2DA1-426E-BCBB-C789FCCB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43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ad4c6435b4d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7967" y="1627632"/>
            <a:ext cx="4408569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77323C7-165C-4DEA-82AC-A01103D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EB5428F-5960-47AA-B506-9BA0645A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6A959D-27CD-4FED-B991-B449B4F1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ssh kaliuser@::1 접속 후 셸 프롬프트 확인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DE2BBF4-F062-4102-BB19-1D238BE0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sshd의 IPv6 22번 포트 수신 화면과 함께 IPv6 루프백 접속을 확인했다.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707941-E17F-4E7E-94B5-981E6B0C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3636207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D00951-7D9E-486C-B860-335E1A3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64477BE-33FB-4882-8A1D-3C23C328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E4A1678-8864-4AF0-8745-4A4422BB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NAT/PAT 학습 기록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5FB16A1-D830-4ED7-B366-5E45B335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D927374-1643-4C05-BDB7-511095AC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6CA4751-16BF-40EE-BAA7-19248E3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FD40207-0FD1-48AB-8AD5-4DE372C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47088"/>
            <a:ext cx="1042416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NAT는 내부 주소와 외부 주소를 변환한다. PAT는 포트 번호까지 이용해 여러 내부 세션이 하나의 외부 주소를 공유하도록 구분한다.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설정 시 inside/outside 인터페이스, 변환 대상 주소, ACL 및 포트 식별을 확인한다. 결과 검증에는 변환 테이블과 양방향 통신 기록이 필요하다.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B7C34CC-CB6A-4DE4-B090-AF4532DF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이 항목은 학습 내용 요약이다. 설정 명령·변환 테이블·통신 캡처가 없어 성공 결과를 기재하지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604499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AA5305-59BB-42AA-B1B4-CBBC228C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9B473FB-DD1C-4DA0-AD2E-BED53F00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709E9C-E2B7-453C-B0DF-D697FE7E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포트 스캔 결과와 TCP 응답 패킷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2B872D-2CA9-47DF-87F7-15DA8023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A7636-48CF-43C0-8815-545A87B2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4E12E4-DF55-48C2-80C5-C1EE50C7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45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131b1c1664d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1912116"/>
            <a:ext cx="7086600" cy="331723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90357C-9383-4A84-8721-6E578BC1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603AA8-AF44-43C7-8B76-845966DF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702E7B-1288-4269-B908-65560816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10.10.10.4 → 10.10.10.3으로 80·23·25·22/tcp SYN 전송. 화면에 SYN/ACK, RST 및 ICMP 도달 불가 응답이 함께 보인다.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C9B280-4431-4DA5-8879-9D626E57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스캔 결과의 포트 상태는 패킷별 응답과 함께 해석했다. 단일 캡처만으로 필터링 장비의 정책은 특정할 수 없다.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3E402E-06F8-4C77-BF52-008C6FC2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5198803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F9C151-ADBD-4DBB-B310-E97728A0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2699D3-669D-403A-B895-6E033345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666E9B-53B8-41FE-9567-A90AFD82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ARP 테이블에서 확인한 주소 변동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F3D8E8-9418-445D-9270-1CC012FF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5CB7429-BF06-4545-91DF-B160EC2B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250E806-62F6-4EAE-8651-8A70E0A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46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e76701720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1267" y="1627632"/>
            <a:ext cx="5641968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06F9E4-275B-42E0-8071-8DFE9BB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230A9B-51C7-41FB-9659-78D73746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309248D-C7AD-49A7-9860-0F5E68B4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Windows의 10.10.10.3 항목이 08:00:27:29:39:ce에서 08:00:27:da:fa:7f로 변경됐다. 10.10.10.4도 뒤의 MAC으로 기록됐다.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EE088F9-62E3-4CDE-AFA6-AD6CA86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실습 중 두 IP가 같은 MAC으로 해석된 징후다. 변조 원인과 지속 시간은 패킷 및 설정 기록과 대조해야 한다.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09D1AE9-6F24-4266-B60D-57832411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430547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6883E8-AC3D-4983-A5C0-461D3B5D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91968F-DA2D-4CAC-BF1C-AD25CF7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98850E-4CA5-401E-8851-4430738B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DNS 응답 조작을 위한 규칙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FCDC48C-A55D-40CB-B03A-F9535D4E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012DED2-0984-4B52-A202-0F6AB5C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1590C1-9B85-42BC-B447-332A81DD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47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af98238fb4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1972094"/>
            <a:ext cx="7086600" cy="319727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0D78847-38BC-45B0-9214-7E85789F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501110-6FEC-4222-A8FC-6C03FE59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30F480-1E4B-4F0D-B920-61496DC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etter.dns 파일에 google.co.kr 및 google.com 관련 이름을 10.10.10.4로 지정한 A 레코드 규칙이 보인다.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F1D4052-EB4C-4D6E-A210-A0F940B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규칙 작성 화면은 설정 의도를 보여준다. 실제 질의 응답의 변경 여부는 클라이언트 결과로 따로 확인해야 한다.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949C0A2-D814-433A-BCD5-A1672FB3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119570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DA629B-7C0B-46D6-8AB4-0F9B240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C0B5ED5-E1FD-4686-8F87-06A15591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77237B-F804-4F5B-80A1-D7E08A0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브라우저에서 관찰한 목적지 변화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8C15ED-8313-4C47-98E4-1E44B1A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15D32B-3290-4409-9E23-1757919C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6A343F-DBFE-4BE0-B6FD-19D3D89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48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df383bf4843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7429" y="1627632"/>
            <a:ext cx="5329645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3EDA3F-636F-4C2A-8D8F-1835242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64208"/>
            <a:ext cx="33375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D4FF67-C0B0-485C-84E9-E02382A3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56231"/>
            <a:ext cx="28986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화면에서 확인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387D69C-1F81-45EA-8B70-FF465833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450592"/>
            <a:ext cx="2898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브라우저 주소창은 google.co.kr이고, 표시된 내용은 Apache2 Debian 기본 페이지다.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56F712A-CCE0-474C-8AAB-386505E7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04487"/>
            <a:ext cx="28986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앞선 DNS 규칙·ARP 변동과 함께 보면 실습에서 의도한 리디렉션 결과와 부합한다. 이 화면만으로 DNS 응답값 자체는 확인할 수 없다.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7FD6647-0604-4F41-9A10-938D9DA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제공된 실습 화면 중 해당 결과를 보여주는 부분을 발췌 없이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7235287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D98B5A-9DC1-42E6-BB98-9F157016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9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8B80BD-AF64-47F6-99FC-13454CE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2336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C782B3-EFDB-4621-B13B-9D0A255D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41248"/>
            <a:ext cx="107899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결론과 추가 검증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28209BE-93B3-41A3-9294-7A9D3452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18504"/>
            <a:ext cx="1078992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0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6A3AC95-5FB1-490D-9F65-EFDCE498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37376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FB8B8D-ECBA-4269-9E7F-934BAE2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42823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49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BE103F-C064-48B4-8331-C4CDE551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47088"/>
            <a:ext cx="1042416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확인한 결과: DNS·DHCP·원격 접속·IPv6 루프백의 기초 검증, 포트 스캔 응답 패킷, ARP 항목 변경 및 브라우저 표시 내용의 변화.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추가 검증 과제: DNS 변조 전후 응답 패킷 대조, NAT/PAT 변환 테이블 확보, 공개키 인증 로그와 외부 IPv6 통신 확인.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화면에서 관찰한 결과와 원인에 관한 추론을 구분해 기록했다.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F81253-8D8D-413A-AF7A-EE70B3EA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15000"/>
            <a:ext cx="10789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실습 환경의 관찰 결과이며 운영망의 보안 수준 또는 다른 환경에서의 동일 동작을 보증하지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190034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145E1-F45D-4837-85D6-47479DC9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FF671-5D92-417E-9556-6A19981E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096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pfSense 방화벽 규칙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74477-B1C5-4D2A-B008-7AF15D86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rPr>
              <a:t>교육용 실습 · 화면에서 확인한 사실을 중심으로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A61A5-59AC-4413-A95A-CF47C26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50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893d18b1c4025"/>
          <a:stretch xmlns:a="http://schemas.openxmlformats.org/drawingml/2006/main"/>
        </p:blipFill>
        <p:spPr>
          <a:xfrm xmlns:a="http://schemas.openxmlformats.org/drawingml/2006/main">
            <a:off x="666750" y="3015059"/>
            <a:ext cx="7239000" cy="98028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D4C43-422C-46C7-8403-ABBCA105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OPT1: 10.10.10.0/24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FC638-22E0-4BB1-9CB0-20C31355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90775"/>
            <a:ext cx="3190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HTTP 80 허용 규칙을 차단 규칙 위에 배치한 화면이다. LAN 규칙에는 Rocky(192.168.1.10)에서 Kali(10.10.10.4)의 SSH 22 및 HTTP 80으로 가는 항목이 보인다.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37930-D592-4B49-8793-51E0AAB4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483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rPr>
              <a:t>증거: 1000000573, 1000000575, 1000000576</a:t>
            </a:r>
          </a:p>
        </p:txBody>
      </p:sp>
    </p:spTree>
    <p:extLst>
      <p:ext uri="{BB962C8B-B14F-4D97-AF65-F5344CB8AC3E}">
        <p14:creationId xmlns:p14="http://schemas.microsoft.com/office/powerpoint/2010/main" val="20408089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D9DD7-9218-464E-AC7E-261B63C5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D3999-C9B5-4662-88E6-6A7FC7BB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096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Suricata 사용자 정의 규칙과 통신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D6B6D-98FF-4AAC-80F3-C240ED9E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rPr>
              <a:t>교육용 실습 · 화면에서 확인한 사실을 중심으로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C2D6D-649D-4645-897B-70F238B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51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38735170a42b0"/>
          <a:stretch xmlns:a="http://schemas.openxmlformats.org/drawingml/2006/main"/>
        </p:blipFill>
        <p:spPr>
          <a:xfrm xmlns:a="http://schemas.openxmlformats.org/drawingml/2006/main">
            <a:off x="666750" y="1923064"/>
            <a:ext cx="7143750" cy="1306897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291aee17e4f0e"/>
          <a:stretch xmlns:a="http://schemas.openxmlformats.org/drawingml/2006/main"/>
        </p:blipFill>
        <p:spPr>
          <a:xfrm xmlns:a="http://schemas.openxmlformats.org/drawingml/2006/main">
            <a:off x="666750" y="3732368"/>
            <a:ext cx="7143750" cy="126969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C0B19-B4FB-41EA-A2AC-5A83EC0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ICMP drop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C5CD8-837D-48FC-8ABF-31C98E9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2099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Suricata는 192.168.1.10에서 10.10.10.4로 향하는 ICMP 패킷에 drop 동작을 지정했다. Rocky의 ping 결과는 10회 송신, 0회 수신이다.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DE5C-AA17-45FD-B698-7980165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67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rPr>
              <a:t>두 화면은 차단 설정과 통신 실패를 보여준다. 규칙이 원인인지 확정하려면 해당 시점의 alert 또는 drop 로그를 대조해야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6182266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A7E07-DA92-49EB-905B-74C9ED6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DEDDF-80CE-4CCD-8B97-9C4852C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096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Snort 탐지 규칙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FD4BC-12AD-453B-AF9F-33376635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rPr>
              <a:t>교육용 실습 · 화면에서 확인한 사실을 중심으로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AF5D7-240D-4833-AC08-57A44E01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52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cff601f5a4695"/>
          <a:stretch xmlns:a="http://schemas.openxmlformats.org/drawingml/2006/main"/>
        </p:blipFill>
        <p:spPr>
          <a:xfrm xmlns:a="http://schemas.openxmlformats.org/drawingml/2006/main">
            <a:off x="666750" y="2588605"/>
            <a:ext cx="7143750" cy="140456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A07D3-58DC-4594-94B5-CE56B70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local.rules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CC461-9CA4-4ADF-B2D5-82E0E5FC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90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10.10.10.4에서 10.10.10.11로 향하는 ICMP를 대상으로 threshold 조건을 둔 alert 규칙을 작성했다.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BC31B-AE24-45B4-9C9A-1F559451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86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rPr>
              <a:t>화면은 규칙 편집 단계다. 탐지 발생과 경보 출력은 별도의 실행 로그가 있어야 확인할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0612924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74709-642C-4AFF-9FF9-1C5BF22B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05883-9DAB-4301-B635-0EE0B680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096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확인한 결과와 다음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2BDD4-E8E2-48BF-8FB7-F52FCFEE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34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26678"/>
                </a:solidFill>
                <a:latin typeface="Noto Sans CJK KR"/>
                <a:ea typeface="Noto Sans CJK KR"/>
                <a:cs typeface="Noto Sans CJK KR"/>
              </a:rPr>
              <a:t>교육용 실습 · 화면에서 확인한 사실을 중심으로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C1905-554E-4ECA-86B7-BE8D37BF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57605-811A-4E8F-9A64-9030A891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패킷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EA594-9088-4292-BB71-8D8471F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DNS 요청·응답과 포트 스캔에 따른 TCP·ICMP 응답을 화면으로 대조했다.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7C07B-DB36-4337-9AE2-AFD2B735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접근 제어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65DBA-46B3-46D3-8394-EFD7AD05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pfSense 방화벽 규칙, Suricata drop 규칙, Snort alert 규칙을 설정 화면에서 확인했다.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BF403-9901-4DE0-A229-0D99F066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남은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58F25-804E-4EAC-9B5E-6956DDB3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방화벽 적용 전후 로그와 Suricata alert·drop 기록을 패킷 결과와 같은 시각으로 대조한다.</a:t>
            </a:r>
          </a:p>
        </p:txBody>
      </p:sp>
    </p:spTree>
    <p:extLst>
      <p:ext uri="{BB962C8B-B14F-4D97-AF65-F5344CB8AC3E}">
        <p14:creationId xmlns:p14="http://schemas.microsoft.com/office/powerpoint/2010/main" val="563766902"/>
      </p:ext>
    </p:extLst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PPP와 HDLC 캡슐화 비교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양쪽 직렬 인터페이스의 캡슐화를 비교하고 PPP로 맞춘 뒤 라우팅 테이블을 관찰했다.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PPP의 상대 주소 경로와 연결 네트워크를 구분한다. no neighbor-route는 PPP 상대 /32 경로 생성과 관련된 설정이다.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5, 6, 7</a:t>
            </a:r>
          </a:p>
        </p:txBody>
      </p:sp>
      <p:pic>
        <p:nvPicPr>
          <p:cNvPr id="14" name="Picture 13" descr="image (5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547" y="1691640"/>
            <a:ext cx="2393408" cy="1249679"/>
          </a:xfrm>
          <a:prstGeom prst="rect">
            <a:avLst/>
          </a:prstGeom>
        </p:spPr>
      </p:pic>
      <p:pic>
        <p:nvPicPr>
          <p:cNvPr id="15" name="Picture 14" descr="image (6)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22" y="3002280"/>
            <a:ext cx="2182058" cy="1249679"/>
          </a:xfrm>
          <a:prstGeom prst="rect">
            <a:avLst/>
          </a:prstGeom>
        </p:spPr>
      </p:pic>
      <p:pic>
        <p:nvPicPr>
          <p:cNvPr id="16" name="Picture 15" descr="image (7)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745" y="4312920"/>
            <a:ext cx="2171012" cy="124967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3대 라우터와 정적 경로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R1–R2–R3 구성에서 각 LAN과 직렬 연결의 주소를 확인했다. 정적 경로의 목적지와 다음 경로를 비교했다.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반대 방향의 반환 경로도 필요하다. 토폴로지의 서브넷과 라우팅 테이블을 함께 읽는다.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8, 9</a:t>
            </a:r>
          </a:p>
        </p:txBody>
      </p:sp>
      <p:pic>
        <p:nvPicPr>
          <p:cNvPr id="14" name="Picture 13" descr="image (8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12" y="1691640"/>
            <a:ext cx="4024479" cy="1874519"/>
          </a:xfrm>
          <a:prstGeom prst="rect">
            <a:avLst/>
          </a:prstGeom>
        </p:spPr>
      </p:pic>
      <p:pic>
        <p:nvPicPr>
          <p:cNvPr id="15" name="Picture 14" descr="image (9)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81" y="3657600"/>
            <a:ext cx="1778541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기본 경로와 통신 확인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말단 R1·R3에서 기본 경로를 사용하고 중앙 R2가 각 네트워크의 경로를 유지하는 구성을 실습했다.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0.0.0.0/0은 더 구체적인 경로가 없을 때 사용한다. ping 결과는 해당 주소와 시험 시점의 도달성을 보여 준다.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10, 11, 12</a:t>
            </a:r>
          </a:p>
        </p:txBody>
      </p:sp>
      <p:pic>
        <p:nvPicPr>
          <p:cNvPr id="14" name="Picture 13" descr="image (10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365" y="1691640"/>
            <a:ext cx="2171773" cy="1249679"/>
          </a:xfrm>
          <a:prstGeom prst="rect">
            <a:avLst/>
          </a:prstGeom>
        </p:spPr>
      </p:pic>
      <p:pic>
        <p:nvPicPr>
          <p:cNvPr id="15" name="Picture 14" descr="image (11)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996" y="3002280"/>
            <a:ext cx="2116510" cy="1249679"/>
          </a:xfrm>
          <a:prstGeom prst="rect">
            <a:avLst/>
          </a:prstGeom>
        </p:spPr>
      </p:pic>
      <p:pic>
        <p:nvPicPr>
          <p:cNvPr id="16" name="Picture 15" descr="image (12)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836" y="4312920"/>
            <a:ext cx="2174830" cy="124967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NAT/PAT와 송신 주소 지정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노션에 inside/outside, 정적 NAT와 overload 설정을 기록했다. 캡처는 송신 주소를 지정한 ping과 패킷을 보여 준다.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NAT 적용 결과는 show ip nat translations와 변환 전후 주소로 확인한다. 송신 주소 지정 ping만으로 변환 성공을 단정하지 않는다.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13, 14, 15</a:t>
            </a:r>
          </a:p>
        </p:txBody>
      </p:sp>
      <p:pic>
        <p:nvPicPr>
          <p:cNvPr id="14" name="Picture 13" descr="image (13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752" y="1691640"/>
            <a:ext cx="2667000" cy="1249679"/>
          </a:xfrm>
          <a:prstGeom prst="rect">
            <a:avLst/>
          </a:prstGeom>
        </p:spPr>
      </p:pic>
      <p:pic>
        <p:nvPicPr>
          <p:cNvPr id="15" name="Picture 14" descr="image (14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63" y="3002280"/>
            <a:ext cx="3389576" cy="1249679"/>
          </a:xfrm>
          <a:prstGeom prst="rect">
            <a:avLst/>
          </a:prstGeom>
        </p:spPr>
      </p:pic>
      <p:pic>
        <p:nvPicPr>
          <p:cNvPr id="16" name="Picture 15" descr="image (15)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279" y="4312920"/>
            <a:ext cx="2741944" cy="124967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4대 라우터 순환 토폴로지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R1~R4를 연결하고 각 라우터의 루프백과 직렬 서브넷을 배치했다.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같은 연결 구조에서 RIP·OSPF·EIGRP가 학습한 경로를 비교하는 기반으로 사용했다.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16</a:t>
            </a:r>
          </a:p>
        </p:txBody>
      </p:sp>
      <p:pic>
        <p:nvPicPr>
          <p:cNvPr id="14" name="Picture 13" descr="image (16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80" y="1691640"/>
            <a:ext cx="5472343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RIP 경로 변화와 복수 경로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RIP 라우팅 테이블과 경로 변화를 비교했다. 같은 목적지에 대한 다음 홉과 메트릭을 확인했다.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RIP의 경로 표기는 R이다. 연결 상태와 홉 수 변화가 설치 경로에 미치는 영향을 관찰한다.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17, 18, 19</a:t>
            </a:r>
          </a:p>
        </p:txBody>
      </p:sp>
      <p:pic>
        <p:nvPicPr>
          <p:cNvPr id="14" name="Picture 13" descr="image (17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068" y="1691640"/>
            <a:ext cx="2170367" cy="1249679"/>
          </a:xfrm>
          <a:prstGeom prst="rect">
            <a:avLst/>
          </a:prstGeom>
        </p:spPr>
      </p:pic>
      <p:pic>
        <p:nvPicPr>
          <p:cNvPr id="15" name="Picture 14" descr="image (18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624" y="3002280"/>
            <a:ext cx="2149255" cy="1249679"/>
          </a:xfrm>
          <a:prstGeom prst="rect">
            <a:avLst/>
          </a:prstGeom>
        </p:spPr>
      </p:pic>
      <p:pic>
        <p:nvPicPr>
          <p:cNvPr id="16" name="Picture 15" descr="image (19)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429" y="4312920"/>
            <a:ext cx="2149645" cy="124967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라우팅 프로토콜 설정 과정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CLI의 설정 모드, network 명령, 프로토콜 설정 과정을 기록했다. 오류 메시지가 있는 입력도 함께 남아 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입력 기록과 적용 결과를 구분한다. show running-config와 show ip protocols로 최종 설정을 확인한다.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20, 21, 22</a:t>
            </a:r>
          </a:p>
        </p:txBody>
      </p:sp>
      <p:pic>
        <p:nvPicPr>
          <p:cNvPr id="14" name="Picture 13" descr="image (2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081" y="1691640"/>
            <a:ext cx="2160341" cy="1249679"/>
          </a:xfrm>
          <a:prstGeom prst="rect">
            <a:avLst/>
          </a:prstGeom>
        </p:spPr>
      </p:pic>
      <p:pic>
        <p:nvPicPr>
          <p:cNvPr id="15" name="Picture 14" descr="image (2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165" y="3002280"/>
            <a:ext cx="2004172" cy="1249679"/>
          </a:xfrm>
          <a:prstGeom prst="rect">
            <a:avLst/>
          </a:prstGeom>
        </p:spPr>
      </p:pic>
      <p:pic>
        <p:nvPicPr>
          <p:cNvPr id="16" name="Picture 15" descr="image (2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515" y="4312920"/>
            <a:ext cx="1985472" cy="124967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 경로와 FULL 인접 관계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 학습 경로와 이웃 상태를 확인했다. 이웃 목록의 FULL 표시는 인접 관계 형성을 보여 준다.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라우팅 테이블의 목적지·다음 홉과 이웃의 Router ID·인터페이스를 대조한다.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23, 24</a:t>
            </a:r>
          </a:p>
        </p:txBody>
      </p:sp>
      <p:pic>
        <p:nvPicPr>
          <p:cNvPr id="14" name="Picture 13" descr="image (2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107" y="1691640"/>
            <a:ext cx="3010288" cy="1874519"/>
          </a:xfrm>
          <a:prstGeom prst="rect">
            <a:avLst/>
          </a:prstGeom>
        </p:spPr>
      </p:pic>
      <p:pic>
        <p:nvPicPr>
          <p:cNvPr id="15" name="Picture 14" descr="image (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970" y="3657600"/>
            <a:ext cx="3024563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 데이터베이스와 Router 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 데이터베이스와 Router ID를 조회했다. 라우팅 테이블과 링크 상태 정보를 연결해 읽었다.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Router ID는 OSPF 라우터 식별자다. 데이터베이스의 광고 라우터와 실제 이웃을 비교한다.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25, 26</a:t>
            </a:r>
          </a:p>
        </p:txBody>
      </p:sp>
      <p:pic>
        <p:nvPicPr>
          <p:cNvPr id="14" name="Picture 13" descr="image (2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107" y="1691640"/>
            <a:ext cx="3010288" cy="1874519"/>
          </a:xfrm>
          <a:prstGeom prst="rect">
            <a:avLst/>
          </a:prstGeom>
        </p:spPr>
      </p:pic>
      <p:pic>
        <p:nvPicPr>
          <p:cNvPr id="15" name="Picture 14" descr="image (2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396" y="3657600"/>
            <a:ext cx="2993711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Router ID 변경 후 통신 시험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Router ID 변경 과정과 인접 관계, ping·traceroute 시험 기록을 확인했다.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변경 후 이웃 상태와 도달성을 다시 확인한다. traceroute는 시험 당시 응답한 경유 홉을 보여 준다.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27, 28</a:t>
            </a:r>
          </a:p>
        </p:txBody>
      </p:sp>
      <p:pic>
        <p:nvPicPr>
          <p:cNvPr id="14" name="Picture 13" descr="image (2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802" y="1691640"/>
            <a:ext cx="3020899" cy="1874519"/>
          </a:xfrm>
          <a:prstGeom prst="rect">
            <a:avLst/>
          </a:prstGeom>
        </p:spPr>
      </p:pic>
      <p:pic>
        <p:nvPicPr>
          <p:cNvPr id="15" name="Picture 14" descr="image (2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903" y="3657600"/>
            <a:ext cx="2984696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EIGRP 설정과 토폴로지 테이블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AS 1234에서 EIGRP를 설정했다. R4의 172.16.2.0/24 항목은 두 successor 경로를 보여 준다.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화면의 FD는 2809856이다. P(Passive)는 해당 경로가 안정 상태임을 나타내며, 라우팅 비활성화를 뜻하지 않는다.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29, 30, 31</a:t>
            </a:r>
          </a:p>
        </p:txBody>
      </p:sp>
      <p:pic>
        <p:nvPicPr>
          <p:cNvPr id="14" name="Picture 13" descr="image (2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125" y="1691640"/>
            <a:ext cx="2012253" cy="1249679"/>
          </a:xfrm>
          <a:prstGeom prst="rect">
            <a:avLst/>
          </a:prstGeom>
        </p:spPr>
      </p:pic>
      <p:pic>
        <p:nvPicPr>
          <p:cNvPr id="15" name="Picture 14" descr="image (3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992" y="3002280"/>
            <a:ext cx="2030519" cy="1249679"/>
          </a:xfrm>
          <a:prstGeom prst="rect">
            <a:avLst/>
          </a:prstGeom>
        </p:spPr>
      </p:pic>
      <p:pic>
        <p:nvPicPr>
          <p:cNvPr id="16" name="Picture 15" descr="image (3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17" y="4312920"/>
            <a:ext cx="2025868" cy="124967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 비용과 제어 패킷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29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 인터페이스와 비용 관련 설정, 제어 패킷 캡처를 비교했다.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경로 선택은 OSPF 비용을 기준으로 해석한다. 패킷 필드와 장비 설정을 함께 확인한다.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32, 33, 34</a:t>
            </a:r>
          </a:p>
        </p:txBody>
      </p:sp>
      <p:pic>
        <p:nvPicPr>
          <p:cNvPr id="14" name="Picture 13" descr="image (3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976" y="1691640"/>
            <a:ext cx="2186550" cy="1249679"/>
          </a:xfrm>
          <a:prstGeom prst="rect">
            <a:avLst/>
          </a:prstGeom>
        </p:spPr>
      </p:pic>
      <p:pic>
        <p:nvPicPr>
          <p:cNvPr id="15" name="Picture 14" descr="image (3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538" y="3002280"/>
            <a:ext cx="1831427" cy="1249679"/>
          </a:xfrm>
          <a:prstGeom prst="rect">
            <a:avLst/>
          </a:prstGeom>
        </p:spPr>
      </p:pic>
      <p:pic>
        <p:nvPicPr>
          <p:cNvPr id="16" name="Picture 15" descr="image (34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068" y="4312920"/>
            <a:ext cx="2032366" cy="124967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다중 영역 OSPF 구성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Area 10과 Area 20을 Backbone Area 0에 연결한 9대 라우터 토폴로지를 구성했다.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영역 경계 라우터의 인터페이스별 area를 대조한다. 구성도만으로 영역 간 통신 성공을 판단하지 않는다.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35</a:t>
            </a:r>
          </a:p>
        </p:txBody>
      </p:sp>
      <p:pic>
        <p:nvPicPr>
          <p:cNvPr id="14" name="Picture 13" descr="image (3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08" y="1691640"/>
            <a:ext cx="5476486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OSPF와 RIP 재분배 구성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OSPF 영역에 RIP 구간을 연결하는 재분배 토폴로지를 기록했다.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노션의 subents 오타와 OSPF 프로세스 번호 불일치는 수정 대상이다. 외부 경로와 반환 경로를 추가 검증한다.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36</a:t>
            </a:r>
          </a:p>
        </p:txBody>
      </p:sp>
      <p:pic>
        <p:nvPicPr>
          <p:cNvPr id="14" name="Picture 13" descr="image (3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390" y="1691640"/>
            <a:ext cx="5015722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Cloud와 가상 네트워크 연결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GNS3 라우터와 Cloud/VMnet 연결 구조, LAN 및 직렬 링크 주소를 정리했다.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VMnet의 실제 서브넷과 다음 홉을 맞춘 뒤 외부 도달성을 확인한다. 그림의 주소를 다른 실습 대역과 혼합하지 않는다.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37</a:t>
            </a:r>
          </a:p>
        </p:txBody>
      </p:sp>
      <p:pic>
        <p:nvPicPr>
          <p:cNvPr id="14" name="Picture 13" descr="image (3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535" y="1691640"/>
            <a:ext cx="5829432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05F2E299-EB95-4928-A6AE-74573B6FD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90F39-354F-4E9D-BF9F-5D28B7F85D2C}"/>
              </a:ext>
            </a:extLst>
          </p:cNvPr>
          <p:cNvSpPr>
            <a:spLocks noGrp="1"/>
          </p:cNvSpPr>
          <p:nvPr/>
        </p:nvSpPr>
        <p:spPr>
          <a:xfrm>
            <a:off x="694944" y="402336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2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김소윤  /  네트워크 보안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786D1-9C9E-4E40-A9F1-25A46049D225}"/>
              </a:ext>
            </a:extLst>
          </p:cNvPr>
          <p:cNvSpPr>
            <a:spLocks noGrp="1"/>
          </p:cNvSpPr>
          <p:nvPr/>
        </p:nvSpPr>
        <p:spPr>
          <a:xfrm>
            <a:off x="694944" y="841248"/>
            <a:ext cx="10789920" cy="649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2700" b="1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NSSA와 RIP 구간 연결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34C0-3C44-4CDA-BE36-394347C086A3}"/>
              </a:ext>
            </a:extLst>
          </p:cNvPr>
          <p:cNvSpPr>
            <a:spLocks noGrp="1"/>
          </p:cNvSpPr>
          <p:nvPr/>
        </p:nvSpPr>
        <p:spPr>
          <a:xfrm>
            <a:off x="694944" y="6318504"/>
            <a:ext cx="10789920" cy="14630"/>
          </a:xfrm>
          <a:prstGeom prst="rect">
            <a:avLst/>
          </a:prstGeom>
          <a:solidFill>
            <a:srgbClr val="D3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1E27D-1ABB-4AEF-A751-C07698B8EE09}"/>
              </a:ext>
            </a:extLst>
          </p:cNvPr>
          <p:cNvSpPr>
            <a:spLocks noGrp="1"/>
          </p:cNvSpPr>
          <p:nvPr/>
        </p:nvSpPr>
        <p:spPr>
          <a:xfrm>
            <a:off x="713232" y="6437376"/>
            <a:ext cx="9875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교육용 실습 · 화면으로 확인한 결과와 해석을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8CCD-DF3D-448F-ADB3-BC73146C0271}"/>
              </a:ext>
            </a:extLst>
          </p:cNvPr>
          <p:cNvSpPr>
            <a:spLocks noGrp="1"/>
          </p:cNvSpPr>
          <p:nvPr/>
        </p:nvSpPr>
        <p:spPr>
          <a:xfrm>
            <a:off x="11027664" y="642823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0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33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996B5-4DAB-4081-A774-60F307961EEE}"/>
              </a:ext>
            </a:extLst>
          </p:cNvPr>
          <p:cNvSpPr>
            <a:spLocks noGrp="1"/>
          </p:cNvSpPr>
          <p:nvPr/>
        </p:nvSpPr>
        <p:spPr>
          <a:xfrm>
            <a:off x="8074152" y="1664208"/>
            <a:ext cx="3337560" cy="384048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4044-D2A1-4684-8D68-04E7DCF50442}"/>
              </a:ext>
            </a:extLst>
          </p:cNvPr>
          <p:cNvSpPr>
            <a:spLocks noGrp="1"/>
          </p:cNvSpPr>
          <p:nvPr/>
        </p:nvSpPr>
        <p:spPr>
          <a:xfrm>
            <a:off x="8284464" y="1856231"/>
            <a:ext cx="289864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2069B1"/>
                </a:solidFill>
                <a:latin typeface="Noto Sans CJK KR"/>
                <a:ea typeface="Noto Sans CJK KR"/>
                <a:cs typeface="Noto Sans CJK KR"/>
              </a:rPr>
              <a:t>SKT ALEPH · 라우팅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BF20F-9CD1-4BB5-A11C-C318816E283F}"/>
              </a:ext>
            </a:extLst>
          </p:cNvPr>
          <p:cNvSpPr>
            <a:spLocks noGrp="1"/>
          </p:cNvSpPr>
          <p:nvPr/>
        </p:nvSpPr>
        <p:spPr>
          <a:xfrm>
            <a:off x="8284464" y="2423160"/>
            <a:ext cx="2898648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Area 0에 NSSA Area 10을 연결하고 RIP 구간을 재분배하는 토폴로지를 기록했다.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67B31-1DD9-4D70-8ACD-F6CF8A1EE1F8}"/>
              </a:ext>
            </a:extLst>
          </p:cNvPr>
          <p:cNvSpPr>
            <a:spLocks noGrp="1"/>
          </p:cNvSpPr>
          <p:nvPr/>
        </p:nvSpPr>
        <p:spPr>
          <a:xfrm>
            <a:off x="8284464" y="4069080"/>
            <a:ext cx="289864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300" b="0">
                <a:solidFill>
                  <a:srgbClr val="15324E"/>
                </a:solidFill>
                <a:latin typeface="Noto Sans CJK KR"/>
                <a:ea typeface="Noto Sans CJK KR"/>
                <a:cs typeface="Noto Sans CJK KR"/>
              </a:rPr>
              <a:t>area 10 nssa no-summary와 재분배 설정의 목적을 정리했다. NSSA LSA와 기본 경로 전파 결과는 별도 검증 항목이다.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7510-69C1-4FCF-929E-8C5972AB1C69}"/>
              </a:ext>
            </a:extLst>
          </p:cNvPr>
          <p:cNvSpPr>
            <a:spLocks noGrp="1"/>
          </p:cNvSpPr>
          <p:nvPr/>
        </p:nvSpPr>
        <p:spPr>
          <a:xfrm>
            <a:off x="758952" y="571500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100" b="0">
                <a:solidFill>
                  <a:srgbClr val="4E6478"/>
                </a:solidFill>
                <a:latin typeface="Noto Sans CJK KR"/>
                <a:ea typeface="Noto Sans CJK KR"/>
                <a:cs typeface="Noto Sans CJK KR"/>
              </a:rPr>
              <a:t>자료: GNS3 실습 노션 · 캡처 38</a:t>
            </a:r>
          </a:p>
        </p:txBody>
      </p:sp>
      <p:pic>
        <p:nvPicPr>
          <p:cNvPr id="14" name="Picture 13" descr="image (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55" y="1691640"/>
            <a:ext cx="5092592" cy="3749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2026-09-27T09:14:17.7290000Z</dcterms:created>
  <dcterms:modified xsi:type="dcterms:W3CDTF">2026-09-27T09:14:17.7290000Z</dcterms:modified>
</coreProperties>
</file>